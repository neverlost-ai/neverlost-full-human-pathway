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4ff2fb6b254768" /><Relationship Type="http://schemas.openxmlformats.org/officeDocument/2006/relationships/extended-properties" Target="/docProps/app.xml" Id="R32931aa12afc4462" /><Relationship Type="http://schemas.openxmlformats.org/officeDocument/2006/relationships/officeDocument" Target="/ppt/presentation.xml" Id="R89c33d95d0314f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a774d5cc4740b8"/>
  </p:sldMasterIdLst>
  <p:notesMasterIdLst>
    <p:notesMasterId xmlns:r="http://schemas.openxmlformats.org/officeDocument/2006/relationships" r:id="R6f9c575b6b3449d0"/>
  </p:notesMasterIdLst>
  <p:sldIdLst>
    <p:sldId xmlns:r="http://schemas.openxmlformats.org/officeDocument/2006/relationships" id="256" r:id="Ra05b2ce02fd74bf6"/>
    <p:sldId xmlns:r="http://schemas.openxmlformats.org/officeDocument/2006/relationships" id="257" r:id="Rd23ba24a18564559"/>
    <p:sldId xmlns:r="http://schemas.openxmlformats.org/officeDocument/2006/relationships" id="258" r:id="Rdf49a1550c2a4973"/>
    <p:sldId xmlns:r="http://schemas.openxmlformats.org/officeDocument/2006/relationships" id="259" r:id="R79198d8f7cc24a36"/>
    <p:sldId xmlns:r="http://schemas.openxmlformats.org/officeDocument/2006/relationships" id="260" r:id="R8c6b3233cb7f41a5"/>
    <p:sldId xmlns:r="http://schemas.openxmlformats.org/officeDocument/2006/relationships" id="261" r:id="Rab241eafc7cd4e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ab107dbb5e4fa4" /><Relationship Type="http://schemas.openxmlformats.org/officeDocument/2006/relationships/slideMaster" Target="/ppt/slideMasters/slideMaster1.xml" Id="Rc5a774d5cc4740b8" /><Relationship Type="http://schemas.openxmlformats.org/officeDocument/2006/relationships/notesMaster" Target="/ppt/notesMasters/notesMaster1.xml" Id="R6f9c575b6b3449d0" /><Relationship Type="http://schemas.openxmlformats.org/officeDocument/2006/relationships/presProps" Target="/ppt/presProps.xml" Id="R152c8abdcdc44979" /><Relationship Type="http://schemas.openxmlformats.org/officeDocument/2006/relationships/tableStyles" Target="/ppt/tableStyles.xml" Id="R0e9238f4d6b54213" /><Relationship Type="http://schemas.openxmlformats.org/officeDocument/2006/relationships/slide" Target="/ppt/slides/slide1.xml" Id="Ra05b2ce02fd74bf6" /><Relationship Type="http://schemas.openxmlformats.org/officeDocument/2006/relationships/slide" Target="/ppt/slides/slide2.xml" Id="Rd23ba24a18564559" /><Relationship Type="http://schemas.openxmlformats.org/officeDocument/2006/relationships/slide" Target="/ppt/slides/slide3.xml" Id="Rdf49a1550c2a4973" /><Relationship Type="http://schemas.openxmlformats.org/officeDocument/2006/relationships/slide" Target="/ppt/slides/slide4.xml" Id="R79198d8f7cc24a36" /><Relationship Type="http://schemas.openxmlformats.org/officeDocument/2006/relationships/slide" Target="/ppt/slides/slide5.xml" Id="R8c6b3233cb7f41a5" /><Relationship Type="http://schemas.openxmlformats.org/officeDocument/2006/relationships/slide" Target="/ppt/slides/slide6.xml" Id="Rab241eafc7cd4e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d30d3afc1b4a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07b5042d194236" /><Relationship Type="http://schemas.openxmlformats.org/officeDocument/2006/relationships/notesMaster" Target="/ppt/notesMasters/notesMaster1.xml" Id="Rf289e7f87c1b4c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30c503bff84893" /><Relationship Type="http://schemas.openxmlformats.org/officeDocument/2006/relationships/notesMaster" Target="/ppt/notesMasters/notesMaster1.xml" Id="R1ecc8127d0ae4e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ee151d73004e02" /><Relationship Type="http://schemas.openxmlformats.org/officeDocument/2006/relationships/notesMaster" Target="/ppt/notesMasters/notesMaster1.xml" Id="R4556df3f143245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addbff5ad64776" /><Relationship Type="http://schemas.openxmlformats.org/officeDocument/2006/relationships/notesMaster" Target="/ppt/notesMasters/notesMaster1.xml" Id="R8071b34cc0ea46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8279cf815a4461" /><Relationship Type="http://schemas.openxmlformats.org/officeDocument/2006/relationships/notesMaster" Target="/ppt/notesMasters/notesMaster1.xml" Id="R2cbed7073ed348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db8fe2fda24038" /><Relationship Type="http://schemas.openxmlformats.org/officeDocument/2006/relationships/notesMaster" Target="/ppt/notesMasters/notesMaster1.xml" Id="R45b7d5a1434f4c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96dcffc784f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7fba78a8604669" /><Relationship Type="http://schemas.openxmlformats.org/officeDocument/2006/relationships/slideLayout" Target="/ppt/slideLayouts/slideLayout1.xml" Id="R11e8d45d8c144b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e8d45d8c144b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35d9c574246b4" /><Relationship Type="http://schemas.openxmlformats.org/officeDocument/2006/relationships/image" Target="/ppt/media/image.png" Id="R6da524d02a424897" /><Relationship Type="http://schemas.openxmlformats.org/officeDocument/2006/relationships/notesSlide" Target="/ppt/notesSlides/notesSlide1.xml" Id="Rb6d90f5b8be142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38c15ced74159" /><Relationship Type="http://schemas.openxmlformats.org/officeDocument/2006/relationships/image" Target="/ppt/media/image2.png" Id="Rae4d779b0339457d" /><Relationship Type="http://schemas.openxmlformats.org/officeDocument/2006/relationships/notesSlide" Target="/ppt/notesSlides/notesSlide2.xml" Id="Rdfa987c4cdf946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1f9510a494923" /><Relationship Type="http://schemas.openxmlformats.org/officeDocument/2006/relationships/image" Target="/ppt/media/image3.png" Id="R02a95bfb0f9542b3" /><Relationship Type="http://schemas.openxmlformats.org/officeDocument/2006/relationships/notesSlide" Target="/ppt/notesSlides/notesSlide3.xml" Id="R0731491d61dc42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d6447dec24706" /><Relationship Type="http://schemas.openxmlformats.org/officeDocument/2006/relationships/image" Target="/ppt/media/image4.png" Id="R9c3c68df65104068" /><Relationship Type="http://schemas.openxmlformats.org/officeDocument/2006/relationships/notesSlide" Target="/ppt/notesSlides/notesSlide4.xml" Id="R9736f28163d84a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efec4baaf4174" /><Relationship Type="http://schemas.openxmlformats.org/officeDocument/2006/relationships/image" Target="/ppt/media/image5.png" Id="R8ab9d6a9e2764e79" /><Relationship Type="http://schemas.openxmlformats.org/officeDocument/2006/relationships/notesSlide" Target="/ppt/notesSlides/notesSlide5.xml" Id="Rc26fb3fb976e4b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c0e9026934541" /><Relationship Type="http://schemas.openxmlformats.org/officeDocument/2006/relationships/image" Target="/ppt/media/image6.png" Id="Re35841e532484dcf" /><Relationship Type="http://schemas.openxmlformats.org/officeDocument/2006/relationships/notesSlide" Target="/ppt/notesSlides/notesSlide6.xml" Id="R495f44ef574249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ro-blue-field">
            <a:extLst xmlns:a="http://schemas.openxmlformats.org/drawingml/2006/main">
              <a:ext uri="{FF2B5EF4-FFF2-40B4-BE49-F238E27FC236}">
                <a16:creationId xmlns:a16="http://schemas.microsoft.com/office/drawing/2014/main" id="{868CBB9C-82F8-44C3-968B-5DA50FA2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">
            <a:extLst xmlns:a="http://schemas.openxmlformats.org/drawingml/2006/main">
              <a:ext uri="{FF2B5EF4-FFF2-40B4-BE49-F238E27FC236}">
                <a16:creationId xmlns:a16="http://schemas.microsoft.com/office/drawing/2014/main" id="{A0861C9C-482A-48C4-B6A2-568DC17D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OPENAI BUILD WEEK · NEVERLOST</a:t>
            </a:r>
          </a:p>
        </p:txBody>
      </p:sp>
      <p:sp>
        <p:nvSpPr>
          <p:cNvPr id="3" name="hero-title">
            <a:extLst xmlns:a="http://schemas.openxmlformats.org/drawingml/2006/main">
              <a:ext uri="{FF2B5EF4-FFF2-40B4-BE49-F238E27FC236}">
                <a16:creationId xmlns:a16="http://schemas.microsoft.com/office/drawing/2014/main" id="{B358C098-FCF5-4D2B-81E4-2B8F57DC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00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Human reality is messy.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Decisions do not have to be.</a:t>
            </a:r>
          </a:p>
        </p:txBody>
      </p:sp>
      <p:sp>
        <p:nvSpPr>
          <p:cNvPr id="4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937EEBD6-3677-4250-8AB7-DD4D2DB9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AF4FA"/>
                </a:solidFill>
              </a:defRPr>
            </a:pPr>
            <a:r>
              <a:rPr sz="1725" b="0">
                <a:solidFill>
                  <a:srgbClr val="EAF4FA"/>
                </a:solidFill>
              </a:rPr>
              <a:t>A governed, capacity-aware workflow that turns scattered healthcare, daily-living, benefits, and vocational evidence into bounded action.</a:t>
            </a:r>
          </a:p>
        </p:txBody>
      </p:sp>
      <p:sp>
        <p:nvSpPr>
          <p:cNvPr id="5" name="hero-rule">
            <a:extLst xmlns:a="http://schemas.openxmlformats.org/drawingml/2006/main">
              <a:ext uri="{FF2B5EF4-FFF2-40B4-BE49-F238E27FC236}">
                <a16:creationId xmlns:a16="http://schemas.microsoft.com/office/drawing/2014/main" id="{E8116529-905D-43D3-B768-919DB399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363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A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kill-num-0">
            <a:extLst xmlns:a="http://schemas.openxmlformats.org/drawingml/2006/main">
              <a:ext uri="{FF2B5EF4-FFF2-40B4-BE49-F238E27FC236}">
                <a16:creationId xmlns:a16="http://schemas.microsoft.com/office/drawing/2014/main" id="{4ECF6E9F-980E-49A6-9116-B928E668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4D0"/>
                </a:solidFill>
              </a:defRPr>
            </a:pPr>
            <a:r>
              <a:rPr sz="1350" b="1">
                <a:solidFill>
                  <a:srgbClr val="56A4D0"/>
                </a:solidFill>
              </a:rPr>
              <a:t>01</a:t>
            </a:r>
          </a:p>
        </p:txBody>
      </p:sp>
      <p:sp>
        <p:nvSpPr>
          <p:cNvPr id="7" name="skill-title-0">
            <a:extLst xmlns:a="http://schemas.openxmlformats.org/drawingml/2006/main">
              <a:ext uri="{FF2B5EF4-FFF2-40B4-BE49-F238E27FC236}">
                <a16:creationId xmlns:a16="http://schemas.microsoft.com/office/drawing/2014/main" id="{DD897870-A478-4E18-A54E-8F51F939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Governed Review</a:t>
            </a:r>
          </a:p>
        </p:txBody>
      </p:sp>
      <p:sp>
        <p:nvSpPr>
          <p:cNvPr id="8" name="skill-copy-0">
            <a:extLst xmlns:a="http://schemas.openxmlformats.org/drawingml/2006/main">
              <a:ext uri="{FF2B5EF4-FFF2-40B4-BE49-F238E27FC236}">
                <a16:creationId xmlns:a16="http://schemas.microsoft.com/office/drawing/2014/main" id="{18889C79-EDB4-4E0A-82E3-4B6C3E82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4FA"/>
                </a:solidFill>
              </a:defRPr>
            </a:pPr>
            <a:r>
              <a:rPr sz="1200" b="0">
                <a:solidFill>
                  <a:srgbClr val="EAF4FA"/>
                </a:solidFill>
              </a:rPr>
              <a:t>Source custody · controlled revision</a:t>
            </a:r>
          </a:p>
        </p:txBody>
      </p:sp>
      <p:sp>
        <p:nvSpPr>
          <p:cNvPr id="9" name="skill-num-1">
            <a:extLst xmlns:a="http://schemas.openxmlformats.org/drawingml/2006/main">
              <a:ext uri="{FF2B5EF4-FFF2-40B4-BE49-F238E27FC236}">
                <a16:creationId xmlns:a16="http://schemas.microsoft.com/office/drawing/2014/main" id="{98E1A161-EF93-49B4-941C-75D60EF0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00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4D0"/>
                </a:solidFill>
              </a:defRPr>
            </a:pPr>
            <a:r>
              <a:rPr sz="1350" b="1">
                <a:solidFill>
                  <a:srgbClr val="56A4D0"/>
                </a:solidFill>
              </a:rPr>
              <a:t>02</a:t>
            </a:r>
          </a:p>
        </p:txBody>
      </p:sp>
      <p:sp>
        <p:nvSpPr>
          <p:cNvPr id="10" name="skill-title-1">
            <a:extLst xmlns:a="http://schemas.openxmlformats.org/drawingml/2006/main">
              <a:ext uri="{FF2B5EF4-FFF2-40B4-BE49-F238E27FC236}">
                <a16:creationId xmlns:a16="http://schemas.microsoft.com/office/drawing/2014/main" id="{4922B630-80D0-4DD0-A91F-4137EBD1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43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Capacity &amp; Output</a:t>
            </a:r>
          </a:p>
        </p:txBody>
      </p:sp>
      <p:sp>
        <p:nvSpPr>
          <p:cNvPr id="11" name="skill-copy-1">
            <a:extLst xmlns:a="http://schemas.openxmlformats.org/drawingml/2006/main">
              <a:ext uri="{FF2B5EF4-FFF2-40B4-BE49-F238E27FC236}">
                <a16:creationId xmlns:a16="http://schemas.microsoft.com/office/drawing/2014/main" id="{5EC1ECAC-EE0F-4637-ABED-3DA2ED58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43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4FA"/>
                </a:solidFill>
              </a:defRPr>
            </a:pPr>
            <a:r>
              <a:rPr sz="1200" b="0">
                <a:solidFill>
                  <a:srgbClr val="EAF4FA"/>
                </a:solidFill>
              </a:rPr>
              <a:t>Conditions · variability · recovery cost</a:t>
            </a:r>
          </a:p>
        </p:txBody>
      </p:sp>
      <p:sp>
        <p:nvSpPr>
          <p:cNvPr id="12" name="skill-num-2">
            <a:extLst xmlns:a="http://schemas.openxmlformats.org/drawingml/2006/main">
              <a:ext uri="{FF2B5EF4-FFF2-40B4-BE49-F238E27FC236}">
                <a16:creationId xmlns:a16="http://schemas.microsoft.com/office/drawing/2014/main" id="{106ACA17-55E4-44B4-B672-056C39B5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00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A4D0"/>
                </a:solidFill>
              </a:defRPr>
            </a:pPr>
            <a:r>
              <a:rPr sz="1350" b="1">
                <a:solidFill>
                  <a:srgbClr val="56A4D0"/>
                </a:solidFill>
              </a:rPr>
              <a:t>03</a:t>
            </a:r>
          </a:p>
        </p:txBody>
      </p:sp>
      <p:sp>
        <p:nvSpPr>
          <p:cNvPr id="13" name="skill-title-2">
            <a:extLst xmlns:a="http://schemas.openxmlformats.org/drawingml/2006/main">
              <a:ext uri="{FF2B5EF4-FFF2-40B4-BE49-F238E27FC236}">
                <a16:creationId xmlns:a16="http://schemas.microsoft.com/office/drawing/2014/main" id="{EB87B908-9290-44B6-B580-0DDA2147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43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Full Human Pathway</a:t>
            </a:r>
          </a:p>
        </p:txBody>
      </p:sp>
      <p:sp>
        <p:nvSpPr>
          <p:cNvPr id="14" name="skill-copy-2">
            <a:extLst xmlns:a="http://schemas.openxmlformats.org/drawingml/2006/main">
              <a:ext uri="{FF2B5EF4-FFF2-40B4-BE49-F238E27FC236}">
                <a16:creationId xmlns:a16="http://schemas.microsoft.com/office/drawing/2014/main" id="{FA71449C-3250-4403-85E2-F01FF697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43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4FA"/>
                </a:solidFill>
              </a:defRPr>
            </a:pPr>
            <a:r>
              <a:rPr sz="1200" b="0">
                <a:solidFill>
                  <a:srgbClr val="EAF4FA"/>
                </a:solidFill>
              </a:rPr>
              <a:t>Six lanes · cross-system bridges</a:t>
            </a:r>
          </a:p>
        </p:txBody>
      </p:sp>
      <p:sp>
        <p:nvSpPr>
          <p:cNvPr id="15" name="creator-context">
            <a:extLst xmlns:a="http://schemas.openxmlformats.org/drawingml/2006/main">
              <a:ext uri="{FF2B5EF4-FFF2-40B4-BE49-F238E27FC236}">
                <a16:creationId xmlns:a16="http://schemas.microsoft.com/office/drawing/2014/main" id="{493C8613-CA8B-48DD-9317-241E1D3D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CA0B3"/>
                </a:solidFill>
              </a:defRPr>
            </a:pPr>
            <a:r>
              <a:rPr sz="1125" b="0">
                <a:solidFill>
                  <a:srgbClr val="8CA0B3"/>
                </a:solidFill>
              </a:rPr>
              <a:t>Built from lived experience navigating disabling chronic illness—and from using Codex to reduce repetitive technical work and physical strain.</a:t>
            </a:r>
          </a:p>
        </p:txBody>
      </p:sp>
      <p:sp>
        <p:nvSpPr>
          <p:cNvPr id="16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51B21340-4DFE-4978-9023-05E92C26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4FA"/>
                </a:solidFill>
              </a:defRPr>
            </a:pPr>
            <a:r>
              <a:rPr sz="975" b="1">
                <a:solidFill>
                  <a:srgbClr val="EAF4FA"/>
                </a:solidFill>
              </a:rPr>
              <a:t>NEVERLOST · SYNTHETIC DEMONSTRATION</a:t>
            </a:r>
          </a:p>
        </p:txBody>
      </p:sp>
      <p:sp>
        <p:nvSpPr>
          <p:cNvPr id="17" name="footer-frame-1">
            <a:extLst xmlns:a="http://schemas.openxmlformats.org/drawingml/2006/main">
              <a:ext uri="{FF2B5EF4-FFF2-40B4-BE49-F238E27FC236}">
                <a16:creationId xmlns:a16="http://schemas.microsoft.com/office/drawing/2014/main" id="{67E76DED-6962-4902-8112-2D8D4E0A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AF4FA"/>
                </a:solidFill>
              </a:defRPr>
            </a:pPr>
            <a:r>
              <a:rPr sz="975" b="1">
                <a:solidFill>
                  <a:srgbClr val="EAF4FA"/>
                </a:solidFill>
              </a:rPr>
              <a:t>01 / 06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524d02a424897"/>
          <a:stretch xmlns:a="http://schemas.openxmlformats.org/drawingml/2006/main"/>
        </p:blipFill>
        <p:spPr>
          <a:xfrm xmlns:a="http://schemas.openxmlformats.org/drawingml/2006/main">
            <a:off x="11049000" y="6115050"/>
            <a:ext cx="552450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23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F2751A29-6FF7-41F1-A25F-14EB32A9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588"/>
                </a:solidFill>
              </a:defRPr>
            </a:pPr>
            <a:r>
              <a:rPr sz="1125" b="1">
                <a:solidFill>
                  <a:srgbClr val="2F6588"/>
                </a:solidFill>
              </a:rPr>
              <a:t>A DELIBERATELY HARD SYNTHETIC CASE</a:t>
            </a:r>
          </a:p>
        </p:txBody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A2187E8F-B913-471A-B2EF-61C979BC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63E"/>
                </a:solidFill>
              </a:defRPr>
            </a:pPr>
            <a:r>
              <a:rPr sz="2700" b="1">
                <a:solidFill>
                  <a:srgbClr val="10263E"/>
                </a:solidFill>
              </a:rPr>
              <a:t>The test begins with an unsafe answer—and seven authorities that must stay separate.</a:t>
            </a:r>
          </a:p>
        </p:txBody>
      </p:sp>
      <p:sp>
        <p:nvSpPr>
          <p:cNvPr id="3" name="s2-rule">
            <a:extLst xmlns:a="http://schemas.openxmlformats.org/drawingml/2006/main">
              <a:ext uri="{FF2B5EF4-FFF2-40B4-BE49-F238E27FC236}">
                <a16:creationId xmlns:a16="http://schemas.microsoft.com/office/drawing/2014/main" id="{58308A29-E3DB-45F3-84F3-255CAEE0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858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6A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2-input-label">
            <a:extLst xmlns:a="http://schemas.openxmlformats.org/drawingml/2006/main">
              <a:ext uri="{FF2B5EF4-FFF2-40B4-BE49-F238E27FC236}">
                <a16:creationId xmlns:a16="http://schemas.microsoft.com/office/drawing/2014/main" id="{7ABFE28F-299D-4B41-B9E0-84F570EC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588"/>
                </a:solidFill>
              </a:defRPr>
            </a:pPr>
            <a:r>
              <a:rPr sz="1125" b="1">
                <a:solidFill>
                  <a:srgbClr val="2F6588"/>
                </a:solidFill>
              </a:rPr>
              <a:t>SEVEN INPUT SOURCES</a:t>
            </a:r>
          </a:p>
        </p:txBody>
      </p:sp>
      <p:sp>
        <p:nvSpPr>
          <p:cNvPr id="5" name="src-0">
            <a:extLst xmlns:a="http://schemas.openxmlformats.org/drawingml/2006/main">
              <a:ext uri="{FF2B5EF4-FFF2-40B4-BE49-F238E27FC236}">
                <a16:creationId xmlns:a16="http://schemas.microsoft.com/office/drawing/2014/main" id="{D8A1D615-45C2-45A4-8ADD-906E0EF5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63E"/>
                </a:solidFill>
              </a:defRPr>
            </a:pPr>
            <a:r>
              <a:rPr sz="1350" b="0">
                <a:solidFill>
                  <a:srgbClr val="10263E"/>
                </a:solidFill>
              </a:rPr>
              <a:t>S1  Client report</a:t>
            </a:r>
          </a:p>
        </p:txBody>
      </p:sp>
      <p:sp>
        <p:nvSpPr>
          <p:cNvPr id="6" name="src-rule-0">
            <a:extLst xmlns:a="http://schemas.openxmlformats.org/drawingml/2006/main">
              <a:ext uri="{FF2B5EF4-FFF2-40B4-BE49-F238E27FC236}">
                <a16:creationId xmlns:a16="http://schemas.microsoft.com/office/drawing/2014/main" id="{B1F5AE09-2433-4937-9CA3-6FFF45A9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4095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rc-1">
            <a:extLst xmlns:a="http://schemas.openxmlformats.org/drawingml/2006/main">
              <a:ext uri="{FF2B5EF4-FFF2-40B4-BE49-F238E27FC236}">
                <a16:creationId xmlns:a16="http://schemas.microsoft.com/office/drawing/2014/main" id="{C584346E-5E7F-46FF-8A6E-26C004B3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63E"/>
                </a:solidFill>
              </a:defRPr>
            </a:pPr>
            <a:r>
              <a:rPr sz="1350" b="0">
                <a:solidFill>
                  <a:srgbClr val="10263E"/>
                </a:solidFill>
              </a:rPr>
              <a:t>S2  Provider note</a:t>
            </a:r>
          </a:p>
        </p:txBody>
      </p:sp>
      <p:sp>
        <p:nvSpPr>
          <p:cNvPr id="8" name="src-rule-1">
            <a:extLst xmlns:a="http://schemas.openxmlformats.org/drawingml/2006/main">
              <a:ext uri="{FF2B5EF4-FFF2-40B4-BE49-F238E27FC236}">
                <a16:creationId xmlns:a16="http://schemas.microsoft.com/office/drawing/2014/main" id="{C9387C2E-31A1-4FD5-82FB-C9A6343F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4095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rc-2">
            <a:extLst xmlns:a="http://schemas.openxmlformats.org/drawingml/2006/main">
              <a:ext uri="{FF2B5EF4-FFF2-40B4-BE49-F238E27FC236}">
                <a16:creationId xmlns:a16="http://schemas.microsoft.com/office/drawing/2014/main" id="{69CC0ACA-4A0D-40AD-B366-1126A974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63E"/>
                </a:solidFill>
              </a:defRPr>
            </a:pPr>
            <a:r>
              <a:rPr sz="1350" b="0">
                <a:solidFill>
                  <a:srgbClr val="10263E"/>
                </a:solidFill>
              </a:rPr>
              <a:t>S3  Occupational-therapy note</a:t>
            </a:r>
          </a:p>
        </p:txBody>
      </p:sp>
      <p:sp>
        <p:nvSpPr>
          <p:cNvPr id="10" name="src-rule-2">
            <a:extLst xmlns:a="http://schemas.openxmlformats.org/drawingml/2006/main">
              <a:ext uri="{FF2B5EF4-FFF2-40B4-BE49-F238E27FC236}">
                <a16:creationId xmlns:a16="http://schemas.microsoft.com/office/drawing/2014/main" id="{D1887536-995A-4B70-8554-88A9AF49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4095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rc-3">
            <a:extLst xmlns:a="http://schemas.openxmlformats.org/drawingml/2006/main">
              <a:ext uri="{FF2B5EF4-FFF2-40B4-BE49-F238E27FC236}">
                <a16:creationId xmlns:a16="http://schemas.microsoft.com/office/drawing/2014/main" id="{BFD347B0-B1E2-425F-9142-65AE8904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63E"/>
                </a:solidFill>
              </a:defRPr>
            </a:pPr>
            <a:r>
              <a:rPr sz="1350" b="0">
                <a:solidFill>
                  <a:srgbClr val="10263E"/>
                </a:solidFill>
              </a:rPr>
              <a:t>S4  Prior employment plan</a:t>
            </a:r>
          </a:p>
        </p:txBody>
      </p:sp>
      <p:sp>
        <p:nvSpPr>
          <p:cNvPr id="12" name="src-rule-3">
            <a:extLst xmlns:a="http://schemas.openxmlformats.org/drawingml/2006/main">
              <a:ext uri="{FF2B5EF4-FFF2-40B4-BE49-F238E27FC236}">
                <a16:creationId xmlns:a16="http://schemas.microsoft.com/office/drawing/2014/main" id="{B4DE3405-3004-4FF8-90D4-11511AB5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4095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rc-4">
            <a:extLst xmlns:a="http://schemas.openxmlformats.org/drawingml/2006/main">
              <a:ext uri="{FF2B5EF4-FFF2-40B4-BE49-F238E27FC236}">
                <a16:creationId xmlns:a16="http://schemas.microsoft.com/office/drawing/2014/main" id="{945D54E6-6E65-4EDD-A0AD-377C0265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63E"/>
                </a:solidFill>
              </a:defRPr>
            </a:pPr>
            <a:r>
              <a:rPr sz="1350" b="0">
                <a:solidFill>
                  <a:srgbClr val="10263E"/>
                </a:solidFill>
              </a:rPr>
              <a:t>S5  Vocational-rehabilitation message</a:t>
            </a:r>
          </a:p>
        </p:txBody>
      </p:sp>
      <p:sp>
        <p:nvSpPr>
          <p:cNvPr id="14" name="src-rule-4">
            <a:extLst xmlns:a="http://schemas.openxmlformats.org/drawingml/2006/main">
              <a:ext uri="{FF2B5EF4-FFF2-40B4-BE49-F238E27FC236}">
                <a16:creationId xmlns:a16="http://schemas.microsoft.com/office/drawing/2014/main" id="{F9CE40EC-02D1-48A5-A55A-0124FD29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4095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rc-5">
            <a:extLst xmlns:a="http://schemas.openxmlformats.org/drawingml/2006/main">
              <a:ext uri="{FF2B5EF4-FFF2-40B4-BE49-F238E27FC236}">
                <a16:creationId xmlns:a16="http://schemas.microsoft.com/office/drawing/2014/main" id="{C38FEB65-733A-4FBF-9257-09BEED40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63E"/>
                </a:solidFill>
              </a:defRPr>
            </a:pPr>
            <a:r>
              <a:rPr sz="1350" b="0">
                <a:solidFill>
                  <a:srgbClr val="10263E"/>
                </a:solidFill>
              </a:rPr>
              <a:t>S6  Benefits information</a:t>
            </a:r>
          </a:p>
        </p:txBody>
      </p:sp>
      <p:sp>
        <p:nvSpPr>
          <p:cNvPr id="16" name="src-rule-5">
            <a:extLst xmlns:a="http://schemas.openxmlformats.org/drawingml/2006/main">
              <a:ext uri="{FF2B5EF4-FFF2-40B4-BE49-F238E27FC236}">
                <a16:creationId xmlns:a16="http://schemas.microsoft.com/office/drawing/2014/main" id="{C9D19BF1-3AEB-46CF-B9A2-4799518F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4095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rc-6">
            <a:extLst xmlns:a="http://schemas.openxmlformats.org/drawingml/2006/main">
              <a:ext uri="{FF2B5EF4-FFF2-40B4-BE49-F238E27FC236}">
                <a16:creationId xmlns:a16="http://schemas.microsoft.com/office/drawing/2014/main" id="{1891BBC1-3A3E-4379-9421-90779942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5555"/>
                </a:solidFill>
              </a:defRPr>
            </a:pPr>
            <a:r>
              <a:rPr sz="1350" b="1">
                <a:solidFill>
                  <a:srgbClr val="B95555"/>
                </a:solidFill>
              </a:rPr>
              <a:t>S7  Deliberately defective draft</a:t>
            </a:r>
          </a:p>
        </p:txBody>
      </p:sp>
      <p:sp>
        <p:nvSpPr>
          <p:cNvPr id="18" name="src-rule-6">
            <a:extLst xmlns:a="http://schemas.openxmlformats.org/drawingml/2006/main">
              <a:ext uri="{FF2B5EF4-FFF2-40B4-BE49-F238E27FC236}">
                <a16:creationId xmlns:a16="http://schemas.microsoft.com/office/drawing/2014/main" id="{ED19EBDE-9293-4368-AEF1-BE7144C5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4095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pacity-field">
            <a:extLst xmlns:a="http://schemas.openxmlformats.org/drawingml/2006/main">
              <a:ext uri="{FF2B5EF4-FFF2-40B4-BE49-F238E27FC236}">
                <a16:creationId xmlns:a16="http://schemas.microsoft.com/office/drawing/2014/main" id="{A7EC764E-8A7D-41A8-8EAE-664E7274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33600"/>
            <a:ext cx="5353050" cy="3371850"/>
          </a:xfrm>
          <a:prstGeom xmlns:a="http://schemas.openxmlformats.org/drawingml/2006/main" prst="roundRect">
            <a:avLst>
              <a:gd name="adj" fmla="val 5650"/>
            </a:avLst>
          </a:prstGeom>
          <a:solidFill xmlns:a="http://schemas.openxmlformats.org/drawingml/2006/main">
            <a:srgbClr val="0A2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p-label">
            <a:extLst xmlns:a="http://schemas.openxmlformats.org/drawingml/2006/main">
              <a:ext uri="{FF2B5EF4-FFF2-40B4-BE49-F238E27FC236}">
                <a16:creationId xmlns:a16="http://schemas.microsoft.com/office/drawing/2014/main" id="{C8DF6A7F-7ECE-4D68-A02E-550C2BB1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CAPACITY RECORD</a:t>
            </a:r>
          </a:p>
        </p:txBody>
      </p:sp>
      <p:sp>
        <p:nvSpPr>
          <p:cNvPr id="21" name="cap-3">
            <a:extLst xmlns:a="http://schemas.openxmlformats.org/drawingml/2006/main">
              <a:ext uri="{FF2B5EF4-FFF2-40B4-BE49-F238E27FC236}">
                <a16:creationId xmlns:a16="http://schemas.microsoft.com/office/drawing/2014/main" id="{553CE908-420C-4221-A225-DE29C48D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104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cap-3-copy">
            <a:extLst xmlns:a="http://schemas.openxmlformats.org/drawingml/2006/main">
              <a:ext uri="{FF2B5EF4-FFF2-40B4-BE49-F238E27FC236}">
                <a16:creationId xmlns:a16="http://schemas.microsoft.com/office/drawing/2014/main" id="{3CF026E1-F156-4B0B-A681-3EBDA12E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62275"/>
            <a:ext cx="327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4FA"/>
                </a:solidFill>
              </a:defRPr>
            </a:pPr>
            <a:r>
              <a:rPr sz="1425" b="0">
                <a:solidFill>
                  <a:srgbClr val="EAF4FA"/>
                </a:solidFill>
              </a:rPr>
              <a:t>separate client-observed</a:t>
            </a:r>
          </a:p>
          <a:p xmlns:a="http://schemas.openxmlformats.org/drawingml/2006/main">
            <a:pPr algn="l">
              <a:defRPr sz="1425" b="0">
                <a:solidFill>
                  <a:srgbClr val="EAF4FA"/>
                </a:solidFill>
              </a:defRPr>
            </a:pPr>
            <a:r>
              <a:rPr sz="1425" b="0">
                <a:solidFill>
                  <a:srgbClr val="EAF4FA"/>
                </a:solidFill>
              </a:rPr>
              <a:t>computer-task periods</a:t>
            </a:r>
          </a:p>
        </p:txBody>
      </p:sp>
      <p:sp>
        <p:nvSpPr>
          <p:cNvPr id="23" name="cap-40">
            <a:extLst xmlns:a="http://schemas.openxmlformats.org/drawingml/2006/main">
              <a:ext uri="{FF2B5EF4-FFF2-40B4-BE49-F238E27FC236}">
                <a16:creationId xmlns:a16="http://schemas.microsoft.com/office/drawing/2014/main" id="{02039986-DEBE-4CF8-98DE-804C7261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4" name="cap-40-copy">
            <a:extLst xmlns:a="http://schemas.openxmlformats.org/drawingml/2006/main">
              <a:ext uri="{FF2B5EF4-FFF2-40B4-BE49-F238E27FC236}">
                <a16:creationId xmlns:a16="http://schemas.microsoft.com/office/drawing/2014/main" id="{8D28D956-C8F8-415B-A0BC-056D12FC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4FA"/>
                </a:solidFill>
              </a:defRPr>
            </a:pPr>
            <a:r>
              <a:rPr sz="1425" b="0">
                <a:solidFill>
                  <a:srgbClr val="EAF4FA"/>
                </a:solidFill>
              </a:rPr>
              <a:t>minutes · longest</a:t>
            </a:r>
          </a:p>
          <a:p xmlns:a="http://schemas.openxmlformats.org/drawingml/2006/main">
            <a:pPr algn="l">
              <a:defRPr sz="1425" b="0">
                <a:solidFill>
                  <a:srgbClr val="EAF4FA"/>
                </a:solidFill>
              </a:defRPr>
            </a:pPr>
            <a:r>
              <a:rPr sz="1425" b="0">
                <a:solidFill>
                  <a:srgbClr val="EAF4FA"/>
                </a:solidFill>
              </a:rPr>
              <a:t>recorded period</a:t>
            </a:r>
          </a:p>
        </p:txBody>
      </p:sp>
      <p:sp>
        <p:nvSpPr>
          <p:cNvPr id="25" name="cap-recovery">
            <a:extLst xmlns:a="http://schemas.openxmlformats.org/drawingml/2006/main">
              <a:ext uri="{FF2B5EF4-FFF2-40B4-BE49-F238E27FC236}">
                <a16:creationId xmlns:a16="http://schemas.microsoft.com/office/drawing/2014/main" id="{D3F6140A-656E-415A-B04F-73763720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6725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A4D0"/>
                </a:solidFill>
              </a:defRPr>
            </a:pPr>
            <a:r>
              <a:rPr sz="1275" b="1">
                <a:solidFill>
                  <a:srgbClr val="56A4D0"/>
                </a:solidFill>
              </a:rPr>
              <a:t>Recovery: 1–3 hours after shorter periods; remainder of day after the longest.</a:t>
            </a:r>
          </a:p>
        </p:txBody>
      </p:sp>
      <p:sp>
        <p:nvSpPr>
          <p:cNvPr id="26" name="cap-boundary">
            <a:extLst xmlns:a="http://schemas.openxmlformats.org/drawingml/2006/main">
              <a:ext uri="{FF2B5EF4-FFF2-40B4-BE49-F238E27FC236}">
                <a16:creationId xmlns:a16="http://schemas.microsoft.com/office/drawing/2014/main" id="{915EA448-E640-4E8E-B090-7F69D703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579"/>
                </a:solidFill>
              </a:defRPr>
            </a:pPr>
            <a:r>
              <a:rPr sz="1350" b="1">
                <a:solidFill>
                  <a:srgbClr val="526579"/>
                </a:solidFill>
              </a:rPr>
              <a:t>Consecutive-day performance remained untested. No weekly schedule was inferred.</a:t>
            </a:r>
          </a:p>
        </p:txBody>
      </p:sp>
      <p:sp>
        <p:nvSpPr>
          <p:cNvPr id="27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8E8DDA66-BC81-434D-85C3-CD5D4FB5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9"/>
                </a:solidFill>
              </a:defRPr>
            </a:pPr>
            <a:r>
              <a:rPr sz="975" b="1">
                <a:solidFill>
                  <a:srgbClr val="526579"/>
                </a:solidFill>
              </a:rPr>
              <a:t>NEVERLOST · SYNTHETIC DEMONSTRATION</a:t>
            </a:r>
          </a:p>
        </p:txBody>
      </p:sp>
      <p:sp>
        <p:nvSpPr>
          <p:cNvPr id="28" name="footer-frame-2">
            <a:extLst xmlns:a="http://schemas.openxmlformats.org/drawingml/2006/main">
              <a:ext uri="{FF2B5EF4-FFF2-40B4-BE49-F238E27FC236}">
                <a16:creationId xmlns:a16="http://schemas.microsoft.com/office/drawing/2014/main" id="{D56C7025-6AA3-4F9F-B2B0-BCB53791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</a:defRPr>
            </a:pPr>
            <a:r>
              <a:rPr sz="975" b="1">
                <a:solidFill>
                  <a:srgbClr val="526579"/>
                </a:solidFill>
              </a:rPr>
              <a:t>02 / 06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d779b0339457d"/>
          <a:stretch xmlns:a="http://schemas.openxmlformats.org/drawingml/2006/main"/>
        </p:blipFill>
        <p:spPr>
          <a:xfrm xmlns:a="http://schemas.openxmlformats.org/drawingml/2006/main">
            <a:off x="11049000" y="6115050"/>
            <a:ext cx="552450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47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15927BD3-D44F-4479-8EBE-9528FE62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588"/>
                </a:solidFill>
              </a:defRPr>
            </a:pPr>
            <a:r>
              <a:rPr sz="1125" b="1">
                <a:solidFill>
                  <a:srgbClr val="2F6588"/>
                </a:solidFill>
              </a:rPr>
              <a:t>FROZEN ANSWER KEY · MEASURABLE SAFETY</a:t>
            </a:r>
          </a:p>
        </p:txBody>
      </p:sp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6343AD5F-D476-491F-8CF0-B802AB11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63E"/>
                </a:solidFill>
              </a:defRPr>
            </a:pPr>
            <a:r>
              <a:rPr sz="2850" b="1">
                <a:solidFill>
                  <a:srgbClr val="10263E"/>
                </a:solidFill>
              </a:rPr>
              <a:t>Neverlost detected and corrected all 10 planted defects.</a:t>
            </a:r>
          </a:p>
        </p:txBody>
      </p:sp>
      <p:sp>
        <p:nvSpPr>
          <p:cNvPr id="3" name="s3-score">
            <a:extLst xmlns:a="http://schemas.openxmlformats.org/drawingml/2006/main">
              <a:ext uri="{FF2B5EF4-FFF2-40B4-BE49-F238E27FC236}">
                <a16:creationId xmlns:a16="http://schemas.microsoft.com/office/drawing/2014/main" id="{2FAA86BC-FA99-4B2C-A334-83E8E70E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F6588"/>
                </a:solidFill>
              </a:defRPr>
            </a:pPr>
            <a:r>
              <a:rPr sz="6150" b="1">
                <a:solidFill>
                  <a:srgbClr val="2F6588"/>
                </a:solidFill>
              </a:rPr>
              <a:t>10/10</a:t>
            </a:r>
          </a:p>
        </p:txBody>
      </p:sp>
      <p:sp>
        <p:nvSpPr>
          <p:cNvPr id="4" name="s3-score-copy">
            <a:extLst xmlns:a="http://schemas.openxmlformats.org/drawingml/2006/main">
              <a:ext uri="{FF2B5EF4-FFF2-40B4-BE49-F238E27FC236}">
                <a16:creationId xmlns:a16="http://schemas.microsoft.com/office/drawing/2014/main" id="{F4423A89-0C21-4BEC-9BE3-63018F19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79"/>
                </a:solidFill>
              </a:defRPr>
            </a:pPr>
            <a:r>
              <a:rPr sz="1500" b="1">
                <a:solidFill>
                  <a:srgbClr val="526579"/>
                </a:solidFill>
              </a:rPr>
              <a:t>defects handled</a:t>
            </a:r>
          </a:p>
          <a:p xmlns:a="http://schemas.openxmlformats.org/drawingml/2006/main">
            <a:pPr algn="l">
              <a:defRPr sz="1500" b="1">
                <a:solidFill>
                  <a:srgbClr val="526579"/>
                </a:solidFill>
              </a:defRPr>
            </a:pPr>
            <a:r>
              <a:rPr sz="1500" b="1">
                <a:solidFill>
                  <a:srgbClr val="526579"/>
                </a:solidFill>
              </a:rPr>
              <a:t>0 critical false positives</a:t>
            </a:r>
          </a:p>
        </p:txBody>
      </p:sp>
      <p:sp>
        <p:nvSpPr>
          <p:cNvPr id="5" name="s3-score-rule">
            <a:extLst xmlns:a="http://schemas.openxmlformats.org/drawingml/2006/main">
              <a:ext uri="{FF2B5EF4-FFF2-40B4-BE49-F238E27FC236}">
                <a16:creationId xmlns:a16="http://schemas.microsoft.com/office/drawing/2014/main" id="{1160D23E-A46D-4295-BFBC-6ECC7D2A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724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6A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meaning">
            <a:extLst xmlns:a="http://schemas.openxmlformats.org/drawingml/2006/main">
              <a:ext uri="{FF2B5EF4-FFF2-40B4-BE49-F238E27FC236}">
                <a16:creationId xmlns:a16="http://schemas.microsoft.com/office/drawing/2014/main" id="{42E6399F-9D59-472A-98AE-F188D02F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63E"/>
                </a:solidFill>
              </a:defRPr>
            </a:pPr>
            <a:r>
              <a:rPr sz="1575" b="1">
                <a:solidFill>
                  <a:srgbClr val="10263E"/>
                </a:solidFill>
              </a:rPr>
              <a:t>The workflow measured unsafe transformations—not just whether the final prose sounded polished.</a:t>
            </a:r>
          </a:p>
        </p:txBody>
      </p:sp>
      <p:sp>
        <p:nvSpPr>
          <p:cNvPr id="7" name="def-num-0">
            <a:extLst xmlns:a="http://schemas.openxmlformats.org/drawingml/2006/main">
              <a:ext uri="{FF2B5EF4-FFF2-40B4-BE49-F238E27FC236}">
                <a16:creationId xmlns:a16="http://schemas.microsoft.com/office/drawing/2014/main" id="{3DD670C7-07BC-474D-AF1D-BD9C5A20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01</a:t>
            </a:r>
          </a:p>
        </p:txBody>
      </p:sp>
      <p:sp>
        <p:nvSpPr>
          <p:cNvPr id="8" name="def-copy-0">
            <a:extLst xmlns:a="http://schemas.openxmlformats.org/drawingml/2006/main">
              <a:ext uri="{FF2B5EF4-FFF2-40B4-BE49-F238E27FC236}">
                <a16:creationId xmlns:a16="http://schemas.microsoft.com/office/drawing/2014/main" id="{FD91B811-0E3B-4BC1-A570-F5D3C50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002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E"/>
                </a:solidFill>
              </a:defRPr>
            </a:pPr>
            <a:r>
              <a:rPr sz="1275" b="1">
                <a:solidFill>
                  <a:srgbClr val="10263E"/>
                </a:solidFill>
              </a:rPr>
              <a:t>Goal promoted to verified capacity</a:t>
            </a:r>
          </a:p>
        </p:txBody>
      </p:sp>
      <p:sp>
        <p:nvSpPr>
          <p:cNvPr id="9" name="def-rule-0">
            <a:extLst xmlns:a="http://schemas.openxmlformats.org/drawingml/2006/main">
              <a:ext uri="{FF2B5EF4-FFF2-40B4-BE49-F238E27FC236}">
                <a16:creationId xmlns:a16="http://schemas.microsoft.com/office/drawing/2014/main" id="{FC3A7B97-D9F8-4B27-9C96-3D5E862D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314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f-num-1">
            <a:extLst xmlns:a="http://schemas.openxmlformats.org/drawingml/2006/main">
              <a:ext uri="{FF2B5EF4-FFF2-40B4-BE49-F238E27FC236}">
                <a16:creationId xmlns:a16="http://schemas.microsoft.com/office/drawing/2014/main" id="{AF1D2901-B478-49D5-BB61-23AB4DF8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02</a:t>
            </a:r>
          </a:p>
        </p:txBody>
      </p:sp>
      <p:sp>
        <p:nvSpPr>
          <p:cNvPr id="11" name="def-copy-1">
            <a:extLst xmlns:a="http://schemas.openxmlformats.org/drawingml/2006/main">
              <a:ext uri="{FF2B5EF4-FFF2-40B4-BE49-F238E27FC236}">
                <a16:creationId xmlns:a16="http://schemas.microsoft.com/office/drawing/2014/main" id="{E6A6E6BA-D400-4938-8621-ED17A560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19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E"/>
                </a:solidFill>
              </a:defRPr>
            </a:pPr>
            <a:r>
              <a:rPr sz="1275" b="1">
                <a:solidFill>
                  <a:srgbClr val="10263E"/>
                </a:solidFill>
              </a:rPr>
              <a:t>Episodic activity promoted to a schedule</a:t>
            </a:r>
          </a:p>
        </p:txBody>
      </p:sp>
      <p:sp>
        <p:nvSpPr>
          <p:cNvPr id="12" name="def-rule-1">
            <a:extLst xmlns:a="http://schemas.openxmlformats.org/drawingml/2006/main">
              <a:ext uri="{FF2B5EF4-FFF2-40B4-BE49-F238E27FC236}">
                <a16:creationId xmlns:a16="http://schemas.microsoft.com/office/drawing/2014/main" id="{D64E436E-12AF-470B-B57D-4265DA6C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314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f-num-2">
            <a:extLst xmlns:a="http://schemas.openxmlformats.org/drawingml/2006/main">
              <a:ext uri="{FF2B5EF4-FFF2-40B4-BE49-F238E27FC236}">
                <a16:creationId xmlns:a16="http://schemas.microsoft.com/office/drawing/2014/main" id="{6ED0F069-DF17-4596-B9B4-7883E3C6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03</a:t>
            </a:r>
          </a:p>
        </p:txBody>
      </p:sp>
      <p:sp>
        <p:nvSpPr>
          <p:cNvPr id="14" name="def-copy-2">
            <a:extLst xmlns:a="http://schemas.openxmlformats.org/drawingml/2006/main">
              <a:ext uri="{FF2B5EF4-FFF2-40B4-BE49-F238E27FC236}">
                <a16:creationId xmlns:a16="http://schemas.microsoft.com/office/drawing/2014/main" id="{F20BC7EE-FEE5-48B9-A5DF-7CDC730F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38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E"/>
                </a:solidFill>
              </a:defRPr>
            </a:pPr>
            <a:r>
              <a:rPr sz="1275" b="1">
                <a:solidFill>
                  <a:srgbClr val="10263E"/>
                </a:solidFill>
              </a:rPr>
              <a:t>Provider guidance overstated as clearance</a:t>
            </a:r>
          </a:p>
        </p:txBody>
      </p:sp>
      <p:sp>
        <p:nvSpPr>
          <p:cNvPr id="15" name="def-rule-2">
            <a:extLst xmlns:a="http://schemas.openxmlformats.org/drawingml/2006/main">
              <a:ext uri="{FF2B5EF4-FFF2-40B4-BE49-F238E27FC236}">
                <a16:creationId xmlns:a16="http://schemas.microsoft.com/office/drawing/2014/main" id="{E3C47391-D693-40E3-B340-CD3D92E1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314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f-num-3">
            <a:extLst xmlns:a="http://schemas.openxmlformats.org/drawingml/2006/main">
              <a:ext uri="{FF2B5EF4-FFF2-40B4-BE49-F238E27FC236}">
                <a16:creationId xmlns:a16="http://schemas.microsoft.com/office/drawing/2014/main" id="{6D9E4A31-EEC6-42A9-AAC9-6BD32616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767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04</a:t>
            </a:r>
          </a:p>
        </p:txBody>
      </p:sp>
      <p:sp>
        <p:nvSpPr>
          <p:cNvPr id="17" name="def-copy-3">
            <a:extLst xmlns:a="http://schemas.openxmlformats.org/drawingml/2006/main">
              <a:ext uri="{FF2B5EF4-FFF2-40B4-BE49-F238E27FC236}">
                <a16:creationId xmlns:a16="http://schemas.microsoft.com/office/drawing/2014/main" id="{7F08DCEA-9484-44F0-9F26-7E791A2B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57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E"/>
                </a:solidFill>
              </a:defRPr>
            </a:pPr>
            <a:r>
              <a:rPr sz="1275" b="1">
                <a:solidFill>
                  <a:srgbClr val="10263E"/>
                </a:solidFill>
              </a:rPr>
              <a:t>One OT trial overstated as proof</a:t>
            </a:r>
          </a:p>
        </p:txBody>
      </p:sp>
      <p:sp>
        <p:nvSpPr>
          <p:cNvPr id="18" name="def-rule-3">
            <a:extLst xmlns:a="http://schemas.openxmlformats.org/drawingml/2006/main">
              <a:ext uri="{FF2B5EF4-FFF2-40B4-BE49-F238E27FC236}">
                <a16:creationId xmlns:a16="http://schemas.microsoft.com/office/drawing/2014/main" id="{4656204D-0C57-4304-8EC4-5B9160DC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14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f-num-4">
            <a:extLst xmlns:a="http://schemas.openxmlformats.org/drawingml/2006/main">
              <a:ext uri="{FF2B5EF4-FFF2-40B4-BE49-F238E27FC236}">
                <a16:creationId xmlns:a16="http://schemas.microsoft.com/office/drawing/2014/main" id="{E507DC81-65F2-4ADD-99DD-16169451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95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05</a:t>
            </a:r>
          </a:p>
        </p:txBody>
      </p:sp>
      <p:sp>
        <p:nvSpPr>
          <p:cNvPr id="20" name="def-copy-4">
            <a:extLst xmlns:a="http://schemas.openxmlformats.org/drawingml/2006/main">
              <a:ext uri="{FF2B5EF4-FFF2-40B4-BE49-F238E27FC236}">
                <a16:creationId xmlns:a16="http://schemas.microsoft.com/office/drawing/2014/main" id="{74A863EF-CF97-456B-A247-A5EB6961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768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E"/>
                </a:solidFill>
              </a:defRPr>
            </a:pPr>
            <a:r>
              <a:rPr sz="1275" b="1">
                <a:solidFill>
                  <a:srgbClr val="10263E"/>
                </a:solidFill>
              </a:rPr>
              <a:t>VR possibility overstated as approval</a:t>
            </a:r>
          </a:p>
        </p:txBody>
      </p:sp>
      <p:sp>
        <p:nvSpPr>
          <p:cNvPr id="21" name="def-rule-4">
            <a:extLst xmlns:a="http://schemas.openxmlformats.org/drawingml/2006/main">
              <a:ext uri="{FF2B5EF4-FFF2-40B4-BE49-F238E27FC236}">
                <a16:creationId xmlns:a16="http://schemas.microsoft.com/office/drawing/2014/main" id="{B951C28D-EFF8-49D7-9892-18B36046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67350"/>
            <a:ext cx="314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f-num-5">
            <a:extLst xmlns:a="http://schemas.openxmlformats.org/drawingml/2006/main">
              <a:ext uri="{FF2B5EF4-FFF2-40B4-BE49-F238E27FC236}">
                <a16:creationId xmlns:a16="http://schemas.microsoft.com/office/drawing/2014/main" id="{73153E92-DA41-4138-B71B-B4FF9DF3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06</a:t>
            </a:r>
          </a:p>
        </p:txBody>
      </p:sp>
      <p:sp>
        <p:nvSpPr>
          <p:cNvPr id="23" name="def-copy-5">
            <a:extLst xmlns:a="http://schemas.openxmlformats.org/drawingml/2006/main">
              <a:ext uri="{FF2B5EF4-FFF2-40B4-BE49-F238E27FC236}">
                <a16:creationId xmlns:a16="http://schemas.microsoft.com/office/drawing/2014/main" id="{01475808-EF58-4876-88E1-9E3176C9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E"/>
                </a:solidFill>
              </a:defRPr>
            </a:pPr>
            <a:r>
              <a:rPr sz="1275" b="1">
                <a:solidFill>
                  <a:srgbClr val="10263E"/>
                </a:solidFill>
              </a:rPr>
              <a:t>Generic benefits info made into a guarantee</a:t>
            </a:r>
          </a:p>
        </p:txBody>
      </p:sp>
      <p:sp>
        <p:nvSpPr>
          <p:cNvPr id="24" name="def-rule-5">
            <a:extLst xmlns:a="http://schemas.openxmlformats.org/drawingml/2006/main">
              <a:ext uri="{FF2B5EF4-FFF2-40B4-BE49-F238E27FC236}">
                <a16:creationId xmlns:a16="http://schemas.microsoft.com/office/drawing/2014/main" id="{BCDBC77A-2A8D-4082-94AC-8167F010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314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f-num-6">
            <a:extLst xmlns:a="http://schemas.openxmlformats.org/drawingml/2006/main">
              <a:ext uri="{FF2B5EF4-FFF2-40B4-BE49-F238E27FC236}">
                <a16:creationId xmlns:a16="http://schemas.microsoft.com/office/drawing/2014/main" id="{E7983FAA-D4E2-41DC-A04C-52D21476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07</a:t>
            </a:r>
          </a:p>
        </p:txBody>
      </p:sp>
      <p:sp>
        <p:nvSpPr>
          <p:cNvPr id="26" name="def-copy-6">
            <a:extLst xmlns:a="http://schemas.openxmlformats.org/drawingml/2006/main">
              <a:ext uri="{FF2B5EF4-FFF2-40B4-BE49-F238E27FC236}">
                <a16:creationId xmlns:a16="http://schemas.microsoft.com/office/drawing/2014/main" id="{3E0A0F04-41FE-493A-AD6C-E6146C1D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E"/>
                </a:solidFill>
              </a:defRPr>
            </a:pPr>
            <a:r>
              <a:rPr sz="1275" b="1">
                <a:solidFill>
                  <a:srgbClr val="10263E"/>
                </a:solidFill>
              </a:rPr>
              <a:t>Stale plan used as readiness evidence</a:t>
            </a:r>
          </a:p>
        </p:txBody>
      </p:sp>
      <p:sp>
        <p:nvSpPr>
          <p:cNvPr id="27" name="def-rule-6">
            <a:extLst xmlns:a="http://schemas.openxmlformats.org/drawingml/2006/main">
              <a:ext uri="{FF2B5EF4-FFF2-40B4-BE49-F238E27FC236}">
                <a16:creationId xmlns:a16="http://schemas.microsoft.com/office/drawing/2014/main" id="{71B376E5-C0E9-4D54-982D-A651833C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314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ef-num-7">
            <a:extLst xmlns:a="http://schemas.openxmlformats.org/drawingml/2006/main">
              <a:ext uri="{FF2B5EF4-FFF2-40B4-BE49-F238E27FC236}">
                <a16:creationId xmlns:a16="http://schemas.microsoft.com/office/drawing/2014/main" id="{211CC237-381C-45F7-828B-AB1F3FAE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08</a:t>
            </a:r>
          </a:p>
        </p:txBody>
      </p:sp>
      <p:sp>
        <p:nvSpPr>
          <p:cNvPr id="29" name="def-copy-7">
            <a:extLst xmlns:a="http://schemas.openxmlformats.org/drawingml/2006/main">
              <a:ext uri="{FF2B5EF4-FFF2-40B4-BE49-F238E27FC236}">
                <a16:creationId xmlns:a16="http://schemas.microsoft.com/office/drawing/2014/main" id="{0BFB51D7-E06B-48E0-8301-1B833A30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E"/>
                </a:solidFill>
              </a:defRPr>
            </a:pPr>
            <a:r>
              <a:rPr sz="1275" b="1">
                <a:solidFill>
                  <a:srgbClr val="10263E"/>
                </a:solidFill>
              </a:rPr>
              <a:t>Recovery and repeatability limits omitted</a:t>
            </a:r>
          </a:p>
        </p:txBody>
      </p:sp>
      <p:sp>
        <p:nvSpPr>
          <p:cNvPr id="30" name="def-rule-7">
            <a:extLst xmlns:a="http://schemas.openxmlformats.org/drawingml/2006/main">
              <a:ext uri="{FF2B5EF4-FFF2-40B4-BE49-F238E27FC236}">
                <a16:creationId xmlns:a16="http://schemas.microsoft.com/office/drawing/2014/main" id="{061C33DC-0647-404F-A3F9-BE873302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14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ef-num-8">
            <a:extLst xmlns:a="http://schemas.openxmlformats.org/drawingml/2006/main">
              <a:ext uri="{FF2B5EF4-FFF2-40B4-BE49-F238E27FC236}">
                <a16:creationId xmlns:a16="http://schemas.microsoft.com/office/drawing/2014/main" id="{CA08F0C4-861C-4400-9F3F-A4F68F36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767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09</a:t>
            </a:r>
          </a:p>
        </p:txBody>
      </p:sp>
      <p:sp>
        <p:nvSpPr>
          <p:cNvPr id="32" name="def-copy-8">
            <a:extLst xmlns:a="http://schemas.openxmlformats.org/drawingml/2006/main">
              <a:ext uri="{FF2B5EF4-FFF2-40B4-BE49-F238E27FC236}">
                <a16:creationId xmlns:a16="http://schemas.microsoft.com/office/drawing/2014/main" id="{51924B18-55CD-4C5B-B1C5-D70FEED0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57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E"/>
                </a:solidFill>
              </a:defRPr>
            </a:pPr>
            <a:r>
              <a:rPr sz="1275" b="1">
                <a:solidFill>
                  <a:srgbClr val="10263E"/>
                </a:solidFill>
              </a:rPr>
              <a:t>Authorities blended without attribution</a:t>
            </a:r>
          </a:p>
        </p:txBody>
      </p:sp>
      <p:sp>
        <p:nvSpPr>
          <p:cNvPr id="33" name="def-rule-8">
            <a:extLst xmlns:a="http://schemas.openxmlformats.org/drawingml/2006/main">
              <a:ext uri="{FF2B5EF4-FFF2-40B4-BE49-F238E27FC236}">
                <a16:creationId xmlns:a16="http://schemas.microsoft.com/office/drawing/2014/main" id="{F961547E-DD76-4639-9CCE-9FF575AA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314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ef-num-9">
            <a:extLst xmlns:a="http://schemas.openxmlformats.org/drawingml/2006/main">
              <a:ext uri="{FF2B5EF4-FFF2-40B4-BE49-F238E27FC236}">
                <a16:creationId xmlns:a16="http://schemas.microsoft.com/office/drawing/2014/main" id="{F35796D0-240B-4D74-86D7-FF271163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95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10</a:t>
            </a:r>
          </a:p>
        </p:txBody>
      </p:sp>
      <p:sp>
        <p:nvSpPr>
          <p:cNvPr id="35" name="def-copy-9">
            <a:extLst xmlns:a="http://schemas.openxmlformats.org/drawingml/2006/main">
              <a:ext uri="{FF2B5EF4-FFF2-40B4-BE49-F238E27FC236}">
                <a16:creationId xmlns:a16="http://schemas.microsoft.com/office/drawing/2014/main" id="{6354C5B6-3BE0-42CF-9926-574C8E36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768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E"/>
                </a:solidFill>
              </a:defRPr>
            </a:pPr>
            <a:r>
              <a:rPr sz="1275" b="1">
                <a:solidFill>
                  <a:srgbClr val="10263E"/>
                </a:solidFill>
              </a:rPr>
              <a:t>Review-only draft incorrectly marked approved</a:t>
            </a:r>
          </a:p>
        </p:txBody>
      </p:sp>
      <p:sp>
        <p:nvSpPr>
          <p:cNvPr id="36" name="def-rule-9">
            <a:extLst xmlns:a="http://schemas.openxmlformats.org/drawingml/2006/main">
              <a:ext uri="{FF2B5EF4-FFF2-40B4-BE49-F238E27FC236}">
                <a16:creationId xmlns:a16="http://schemas.microsoft.com/office/drawing/2014/main" id="{DB108EC3-83FC-4A18-A904-9109F2D4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314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3-proof">
            <a:extLst xmlns:a="http://schemas.openxmlformats.org/drawingml/2006/main">
              <a:ext uri="{FF2B5EF4-FFF2-40B4-BE49-F238E27FC236}">
                <a16:creationId xmlns:a16="http://schemas.microsoft.com/office/drawing/2014/main" id="{C9166DAB-9239-4968-8874-6952D4DC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912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9"/>
                </a:solidFill>
              </a:defRPr>
            </a:pPr>
            <a:r>
              <a:rPr sz="1200" b="1">
                <a:solidFill>
                  <a:srgbClr val="526579"/>
                </a:solidFill>
              </a:rPr>
              <a:t>Locked baseline · 10/10 classifications · 12/12 qualitative gates</a:t>
            </a:r>
          </a:p>
        </p:txBody>
      </p:sp>
      <p:sp>
        <p:nvSpPr>
          <p:cNvPr id="38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D3862AD9-8466-4E8A-A8A6-3536B451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9"/>
                </a:solidFill>
              </a:defRPr>
            </a:pPr>
            <a:r>
              <a:rPr sz="975" b="1">
                <a:solidFill>
                  <a:srgbClr val="526579"/>
                </a:solidFill>
              </a:rPr>
              <a:t>NEVERLOST · SYNTHETIC DEMONSTRATION</a:t>
            </a:r>
          </a:p>
        </p:txBody>
      </p:sp>
      <p:sp>
        <p:nvSpPr>
          <p:cNvPr id="39" name="footer-frame-3">
            <a:extLst xmlns:a="http://schemas.openxmlformats.org/drawingml/2006/main">
              <a:ext uri="{FF2B5EF4-FFF2-40B4-BE49-F238E27FC236}">
                <a16:creationId xmlns:a16="http://schemas.microsoft.com/office/drawing/2014/main" id="{29925A24-AA29-49B2-B714-4098FEBF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</a:defRPr>
            </a:pPr>
            <a:r>
              <a:rPr sz="975" b="1">
                <a:solidFill>
                  <a:srgbClr val="526579"/>
                </a:solidFill>
              </a:rPr>
              <a:t>03 / 06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95bfb0f9542b3"/>
          <a:stretch xmlns:a="http://schemas.openxmlformats.org/drawingml/2006/main"/>
        </p:blipFill>
        <p:spPr>
          <a:xfrm xmlns:a="http://schemas.openxmlformats.org/drawingml/2006/main">
            <a:off x="11049000" y="6115050"/>
            <a:ext cx="552450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65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065BA438-D1BD-4441-BA29-8F7654D2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588"/>
                </a:solidFill>
              </a:defRPr>
            </a:pPr>
            <a:r>
              <a:rPr sz="1125" b="1">
                <a:solidFill>
                  <a:srgbClr val="2F6588"/>
                </a:solidFill>
              </a:rPr>
              <a:t>FULL HUMAN PATHWAY</a:t>
            </a:r>
          </a:p>
        </p:txBody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408BD5BA-4D3B-4666-AF00-4CBB49D4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63E"/>
                </a:solidFill>
              </a:defRPr>
            </a:pPr>
            <a:r>
              <a:rPr sz="2850" b="1">
                <a:solidFill>
                  <a:srgbClr val="10263E"/>
                </a:solidFill>
              </a:rPr>
              <a:t>Six lanes keep one person’s reality coherent across systems.</a:t>
            </a:r>
          </a:p>
        </p:txBody>
      </p:sp>
      <p:sp>
        <p:nvSpPr>
          <p:cNvPr id="3" name="s4-sub">
            <a:extLst xmlns:a="http://schemas.openxmlformats.org/drawingml/2006/main">
              <a:ext uri="{FF2B5EF4-FFF2-40B4-BE49-F238E27FC236}">
                <a16:creationId xmlns:a16="http://schemas.microsoft.com/office/drawing/2014/main" id="{8A806831-0E92-471D-925B-9C5EBC9E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9"/>
                </a:solidFill>
              </a:defRPr>
            </a:pPr>
            <a:r>
              <a:rPr sz="1500" b="0">
                <a:solidFill>
                  <a:srgbClr val="526579"/>
                </a:solidFill>
              </a:rPr>
              <a:t>Five bridges convert uncertainty into bounded questions for the proper authority.</a:t>
            </a:r>
          </a:p>
        </p:txBody>
      </p:sp>
      <p:sp>
        <p:nvSpPr>
          <p:cNvPr id="4" name="lane-Health &amp; function">
            <a:extLst xmlns:a="http://schemas.openxmlformats.org/drawingml/2006/main">
              <a:ext uri="{FF2B5EF4-FFF2-40B4-BE49-F238E27FC236}">
                <a16:creationId xmlns:a16="http://schemas.microsoft.com/office/drawing/2014/main" id="{F1E021B9-56BB-4286-87EC-A8822E63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5" name="lane-mark-Health &amp; function">
            <a:extLst xmlns:a="http://schemas.openxmlformats.org/drawingml/2006/main">
              <a:ext uri="{FF2B5EF4-FFF2-40B4-BE49-F238E27FC236}">
                <a16:creationId xmlns:a16="http://schemas.microsoft.com/office/drawing/2014/main" id="{BBA090D1-487F-45D9-AB4C-3D27FC45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ne-name-Health &amp; function">
            <a:extLst xmlns:a="http://schemas.openxmlformats.org/drawingml/2006/main">
              <a:ext uri="{FF2B5EF4-FFF2-40B4-BE49-F238E27FC236}">
                <a16:creationId xmlns:a16="http://schemas.microsoft.com/office/drawing/2014/main" id="{F062F42C-19DD-43E3-9C0B-51BA5EB7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38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3E"/>
                </a:solidFill>
              </a:defRPr>
            </a:pPr>
            <a:r>
              <a:rPr sz="1350" b="1">
                <a:solidFill>
                  <a:srgbClr val="10263E"/>
                </a:solidFill>
              </a:rPr>
              <a:t>Health &amp; function</a:t>
            </a:r>
          </a:p>
        </p:txBody>
      </p:sp>
      <p:sp>
        <p:nvSpPr>
          <p:cNvPr id="7" name="lane-stage-Health &amp; function">
            <a:extLst xmlns:a="http://schemas.openxmlformats.org/drawingml/2006/main">
              <a:ext uri="{FF2B5EF4-FFF2-40B4-BE49-F238E27FC236}">
                <a16:creationId xmlns:a16="http://schemas.microsoft.com/office/drawing/2014/main" id="{77013BBE-AEF4-471B-A72C-35A6459F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669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B8B72"/>
                </a:solidFill>
              </a:defRPr>
            </a:pPr>
            <a:r>
              <a:rPr sz="975" b="1">
                <a:solidFill>
                  <a:srgbClr val="3B8B72"/>
                </a:solidFill>
              </a:rPr>
              <a:t>STABILIZE</a:t>
            </a:r>
          </a:p>
        </p:txBody>
      </p:sp>
      <p:sp>
        <p:nvSpPr>
          <p:cNvPr id="8" name="lane-Environment &amp; accessibility">
            <a:extLst xmlns:a="http://schemas.openxmlformats.org/drawingml/2006/main">
              <a:ext uri="{FF2B5EF4-FFF2-40B4-BE49-F238E27FC236}">
                <a16:creationId xmlns:a16="http://schemas.microsoft.com/office/drawing/2014/main" id="{510136CF-A6E3-4E37-B5D6-C42E23FC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9" name="lane-mark-Environment &amp; accessibility">
            <a:extLst xmlns:a="http://schemas.openxmlformats.org/drawingml/2006/main">
              <a:ext uri="{FF2B5EF4-FFF2-40B4-BE49-F238E27FC236}">
                <a16:creationId xmlns:a16="http://schemas.microsoft.com/office/drawing/2014/main" id="{3C02C6A4-6421-4B1F-8E4F-F54EC9E2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5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ne-name-Environment &amp; accessibility">
            <a:extLst xmlns:a="http://schemas.openxmlformats.org/drawingml/2006/main">
              <a:ext uri="{FF2B5EF4-FFF2-40B4-BE49-F238E27FC236}">
                <a16:creationId xmlns:a16="http://schemas.microsoft.com/office/drawing/2014/main" id="{C6311930-DDDD-44F2-90DF-305CC16F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86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3E"/>
                </a:solidFill>
              </a:defRPr>
            </a:pPr>
            <a:r>
              <a:rPr sz="1350" b="1">
                <a:solidFill>
                  <a:srgbClr val="10263E"/>
                </a:solidFill>
              </a:rPr>
              <a:t>Environment &amp; accessibility</a:t>
            </a:r>
          </a:p>
        </p:txBody>
      </p:sp>
      <p:sp>
        <p:nvSpPr>
          <p:cNvPr id="11" name="lane-stage-Environment &amp; accessibility">
            <a:extLst xmlns:a="http://schemas.openxmlformats.org/drawingml/2006/main">
              <a:ext uri="{FF2B5EF4-FFF2-40B4-BE49-F238E27FC236}">
                <a16:creationId xmlns:a16="http://schemas.microsoft.com/office/drawing/2014/main" id="{19CC791F-9D68-4A6B-B292-A42EA642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146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588"/>
                </a:solidFill>
              </a:defRPr>
            </a:pPr>
            <a:r>
              <a:rPr sz="975" b="1">
                <a:solidFill>
                  <a:srgbClr val="2F6588"/>
                </a:solidFill>
              </a:rPr>
              <a:t>ORGANIZE</a:t>
            </a:r>
          </a:p>
        </p:txBody>
      </p:sp>
      <p:sp>
        <p:nvSpPr>
          <p:cNvPr id="12" name="lane-Daily life &amp; recovery">
            <a:extLst xmlns:a="http://schemas.openxmlformats.org/drawingml/2006/main">
              <a:ext uri="{FF2B5EF4-FFF2-40B4-BE49-F238E27FC236}">
                <a16:creationId xmlns:a16="http://schemas.microsoft.com/office/drawing/2014/main" id="{B72F1B8F-699A-461D-A9F0-C6193260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13" name="lane-mark-Daily life &amp; recovery">
            <a:extLst xmlns:a="http://schemas.openxmlformats.org/drawingml/2006/main">
              <a:ext uri="{FF2B5EF4-FFF2-40B4-BE49-F238E27FC236}">
                <a16:creationId xmlns:a16="http://schemas.microsoft.com/office/drawing/2014/main" id="{1818A0DC-C82A-4D42-BB8D-080CCC82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ne-name-Daily life &amp; recovery">
            <a:extLst xmlns:a="http://schemas.openxmlformats.org/drawingml/2006/main">
              <a:ext uri="{FF2B5EF4-FFF2-40B4-BE49-F238E27FC236}">
                <a16:creationId xmlns:a16="http://schemas.microsoft.com/office/drawing/2014/main" id="{1A705AA8-8E5E-4FF2-98C8-EC04411E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33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3E"/>
                </a:solidFill>
              </a:defRPr>
            </a:pPr>
            <a:r>
              <a:rPr sz="1350" b="1">
                <a:solidFill>
                  <a:srgbClr val="10263E"/>
                </a:solidFill>
              </a:rPr>
              <a:t>Daily life &amp; recovery</a:t>
            </a:r>
          </a:p>
        </p:txBody>
      </p:sp>
      <p:sp>
        <p:nvSpPr>
          <p:cNvPr id="15" name="lane-stage-Daily life &amp; recovery">
            <a:extLst xmlns:a="http://schemas.openxmlformats.org/drawingml/2006/main">
              <a:ext uri="{FF2B5EF4-FFF2-40B4-BE49-F238E27FC236}">
                <a16:creationId xmlns:a16="http://schemas.microsoft.com/office/drawing/2014/main" id="{AC1B1B96-EB16-4E94-8AA1-01A15D25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623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B8B72"/>
                </a:solidFill>
              </a:defRPr>
            </a:pPr>
            <a:r>
              <a:rPr sz="975" b="1">
                <a:solidFill>
                  <a:srgbClr val="3B8B72"/>
                </a:solidFill>
              </a:rPr>
              <a:t>STABILIZE</a:t>
            </a:r>
          </a:p>
        </p:txBody>
      </p:sp>
      <p:sp>
        <p:nvSpPr>
          <p:cNvPr id="16" name="lane-Resources &amp; benefits">
            <a:extLst xmlns:a="http://schemas.openxmlformats.org/drawingml/2006/main">
              <a:ext uri="{FF2B5EF4-FFF2-40B4-BE49-F238E27FC236}">
                <a16:creationId xmlns:a16="http://schemas.microsoft.com/office/drawing/2014/main" id="{8D4B8C9A-0536-4A31-890E-9937EC21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17" name="lane-mark-Resources &amp; benefits">
            <a:extLst xmlns:a="http://schemas.openxmlformats.org/drawingml/2006/main">
              <a:ext uri="{FF2B5EF4-FFF2-40B4-BE49-F238E27FC236}">
                <a16:creationId xmlns:a16="http://schemas.microsoft.com/office/drawing/2014/main" id="{E131C5C0-346B-435D-B2C8-447F4E0F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5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ane-name-Resources &amp; benefits">
            <a:extLst xmlns:a="http://schemas.openxmlformats.org/drawingml/2006/main">
              <a:ext uri="{FF2B5EF4-FFF2-40B4-BE49-F238E27FC236}">
                <a16:creationId xmlns:a16="http://schemas.microsoft.com/office/drawing/2014/main" id="{1C2C16DD-75E9-4B41-9BC8-8E42178C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81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3E"/>
                </a:solidFill>
              </a:defRPr>
            </a:pPr>
            <a:r>
              <a:rPr sz="1350" b="1">
                <a:solidFill>
                  <a:srgbClr val="10263E"/>
                </a:solidFill>
              </a:rPr>
              <a:t>Resources &amp; benefits</a:t>
            </a:r>
          </a:p>
        </p:txBody>
      </p:sp>
      <p:sp>
        <p:nvSpPr>
          <p:cNvPr id="19" name="lane-stage-Resources &amp; benefits">
            <a:extLst xmlns:a="http://schemas.openxmlformats.org/drawingml/2006/main">
              <a:ext uri="{FF2B5EF4-FFF2-40B4-BE49-F238E27FC236}">
                <a16:creationId xmlns:a16="http://schemas.microsoft.com/office/drawing/2014/main" id="{270CF636-F44E-4ADD-BAD7-B991954D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100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588"/>
                </a:solidFill>
              </a:defRPr>
            </a:pPr>
            <a:r>
              <a:rPr sz="975" b="1">
                <a:solidFill>
                  <a:srgbClr val="2F6588"/>
                </a:solidFill>
              </a:rPr>
              <a:t>ORGANIZE</a:t>
            </a:r>
          </a:p>
        </p:txBody>
      </p:sp>
      <p:sp>
        <p:nvSpPr>
          <p:cNvPr id="20" name="lane-Education &amp; training">
            <a:extLst xmlns:a="http://schemas.openxmlformats.org/drawingml/2006/main">
              <a:ext uri="{FF2B5EF4-FFF2-40B4-BE49-F238E27FC236}">
                <a16:creationId xmlns:a16="http://schemas.microsoft.com/office/drawing/2014/main" id="{D3D1BFFE-4427-4467-8E02-72A1EBF7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21" name="lane-mark-Education &amp; training">
            <a:extLst xmlns:a="http://schemas.openxmlformats.org/drawingml/2006/main">
              <a:ext uri="{FF2B5EF4-FFF2-40B4-BE49-F238E27FC236}">
                <a16:creationId xmlns:a16="http://schemas.microsoft.com/office/drawing/2014/main" id="{5F4BC492-CF1D-4A2A-9AFE-DFE2D55C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ane-name-Education &amp; training">
            <a:extLst xmlns:a="http://schemas.openxmlformats.org/drawingml/2006/main">
              <a:ext uri="{FF2B5EF4-FFF2-40B4-BE49-F238E27FC236}">
                <a16:creationId xmlns:a16="http://schemas.microsoft.com/office/drawing/2014/main" id="{69B353BF-E626-40E3-AE19-4E1990B5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29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3E"/>
                </a:solidFill>
              </a:defRPr>
            </a:pPr>
            <a:r>
              <a:rPr sz="1350" b="1">
                <a:solidFill>
                  <a:srgbClr val="10263E"/>
                </a:solidFill>
              </a:rPr>
              <a:t>Education &amp; training</a:t>
            </a:r>
          </a:p>
        </p:txBody>
      </p:sp>
      <p:sp>
        <p:nvSpPr>
          <p:cNvPr id="23" name="lane-stage-Education &amp; training">
            <a:extLst xmlns:a="http://schemas.openxmlformats.org/drawingml/2006/main">
              <a:ext uri="{FF2B5EF4-FFF2-40B4-BE49-F238E27FC236}">
                <a16:creationId xmlns:a16="http://schemas.microsoft.com/office/drawing/2014/main" id="{86D3E994-F54F-406F-AEA0-A0C485EF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57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9972F"/>
                </a:solidFill>
              </a:defRPr>
            </a:pPr>
            <a:r>
              <a:rPr sz="975" b="1">
                <a:solidFill>
                  <a:srgbClr val="D9972F"/>
                </a:solidFill>
              </a:rPr>
              <a:t>BUILD EVIDENCE</a:t>
            </a:r>
          </a:p>
        </p:txBody>
      </p:sp>
      <p:sp>
        <p:nvSpPr>
          <p:cNvPr id="24" name="lane-Vocational rehabilitation">
            <a:extLst xmlns:a="http://schemas.openxmlformats.org/drawingml/2006/main">
              <a:ext uri="{FF2B5EF4-FFF2-40B4-BE49-F238E27FC236}">
                <a16:creationId xmlns:a16="http://schemas.microsoft.com/office/drawing/2014/main" id="{3AC85382-30F3-4282-A173-A36554DB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25" name="lane-mark-Vocational rehabilitation">
            <a:extLst xmlns:a="http://schemas.openxmlformats.org/drawingml/2006/main">
              <a:ext uri="{FF2B5EF4-FFF2-40B4-BE49-F238E27FC236}">
                <a16:creationId xmlns:a16="http://schemas.microsoft.com/office/drawing/2014/main" id="{139015A3-1CA3-4594-806A-DBA4636A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5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ne-name-Vocational rehabilitation">
            <a:extLst xmlns:a="http://schemas.openxmlformats.org/drawingml/2006/main">
              <a:ext uri="{FF2B5EF4-FFF2-40B4-BE49-F238E27FC236}">
                <a16:creationId xmlns:a16="http://schemas.microsoft.com/office/drawing/2014/main" id="{95CB5C7C-E4D3-45F2-87CF-FE9AF283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76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3E"/>
                </a:solidFill>
              </a:defRPr>
            </a:pPr>
            <a:r>
              <a:rPr sz="1350" b="1">
                <a:solidFill>
                  <a:srgbClr val="10263E"/>
                </a:solidFill>
              </a:rPr>
              <a:t>Vocational rehabilitation</a:t>
            </a:r>
          </a:p>
        </p:txBody>
      </p:sp>
      <p:sp>
        <p:nvSpPr>
          <p:cNvPr id="27" name="lane-stage-Vocational rehabilitation">
            <a:extLst xmlns:a="http://schemas.openxmlformats.org/drawingml/2006/main">
              <a:ext uri="{FF2B5EF4-FFF2-40B4-BE49-F238E27FC236}">
                <a16:creationId xmlns:a16="http://schemas.microsoft.com/office/drawing/2014/main" id="{8F8AFBF7-5FBD-4357-BF8D-5AD0D61C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054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588"/>
                </a:solidFill>
              </a:defRPr>
            </a:pPr>
            <a:r>
              <a:rPr sz="975" b="1">
                <a:solidFill>
                  <a:srgbClr val="2F6588"/>
                </a:solidFill>
              </a:rPr>
              <a:t>ORGANIZE</a:t>
            </a:r>
          </a:p>
        </p:txBody>
      </p:sp>
      <p:sp>
        <p:nvSpPr>
          <p:cNvPr id="28" name="bridge-field">
            <a:extLst xmlns:a="http://schemas.openxmlformats.org/drawingml/2006/main">
              <a:ext uri="{FF2B5EF4-FFF2-40B4-BE49-F238E27FC236}">
                <a16:creationId xmlns:a16="http://schemas.microsoft.com/office/drawing/2014/main" id="{CE0A1843-E50B-4705-804A-8ABA3473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4743450" cy="3771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A2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ridge-big">
            <a:extLst xmlns:a="http://schemas.openxmlformats.org/drawingml/2006/main">
              <a:ext uri="{FF2B5EF4-FFF2-40B4-BE49-F238E27FC236}">
                <a16:creationId xmlns:a16="http://schemas.microsoft.com/office/drawing/2014/main" id="{88BEC007-A0DC-40BB-A7FD-4036C479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895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bridge-label">
            <a:extLst xmlns:a="http://schemas.openxmlformats.org/drawingml/2006/main">
              <a:ext uri="{FF2B5EF4-FFF2-40B4-BE49-F238E27FC236}">
                <a16:creationId xmlns:a16="http://schemas.microsoft.com/office/drawing/2014/main" id="{35A52E21-DC88-45FA-9513-81BC0FE8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4317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4FA"/>
                </a:solidFill>
              </a:defRPr>
            </a:pPr>
            <a:r>
              <a:rPr sz="1650" b="1">
                <a:solidFill>
                  <a:srgbClr val="EAF4FA"/>
                </a:solidFill>
              </a:rPr>
              <a:t>authority-bearing</a:t>
            </a:r>
          </a:p>
          <a:p xmlns:a="http://schemas.openxmlformats.org/drawingml/2006/main">
            <a:pPr algn="l">
              <a:defRPr sz="1650" b="1">
                <a:solidFill>
                  <a:srgbClr val="EAF4FA"/>
                </a:solidFill>
              </a:defRPr>
            </a:pPr>
            <a:r>
              <a:rPr sz="1650" b="1">
                <a:solidFill>
                  <a:srgbClr val="EAF4FA"/>
                </a:solidFill>
              </a:rPr>
              <a:t>bridges</a:t>
            </a:r>
          </a:p>
        </p:txBody>
      </p:sp>
      <p:sp>
        <p:nvSpPr>
          <p:cNvPr id="31" name="bridge-rule">
            <a:extLst xmlns:a="http://schemas.openxmlformats.org/drawingml/2006/main">
              <a:ext uri="{FF2B5EF4-FFF2-40B4-BE49-F238E27FC236}">
                <a16:creationId xmlns:a16="http://schemas.microsoft.com/office/drawing/2014/main" id="{0FA42E24-B0E8-4017-96BB-5FACF44F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95650"/>
            <a:ext cx="39052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A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ridge-q-num-0">
            <a:extLst xmlns:a="http://schemas.openxmlformats.org/drawingml/2006/main">
              <a:ext uri="{FF2B5EF4-FFF2-40B4-BE49-F238E27FC236}">
                <a16:creationId xmlns:a16="http://schemas.microsoft.com/office/drawing/2014/main" id="{7813A2D2-0E21-40B2-A243-2906C84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81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1</a:t>
            </a:r>
          </a:p>
        </p:txBody>
      </p:sp>
      <p:sp>
        <p:nvSpPr>
          <p:cNvPr id="33" name="bridge-q-0">
            <a:extLst xmlns:a="http://schemas.openxmlformats.org/drawingml/2006/main">
              <a:ext uri="{FF2B5EF4-FFF2-40B4-BE49-F238E27FC236}">
                <a16:creationId xmlns:a16="http://schemas.microsoft.com/office/drawing/2014/main" id="{AC4510B1-D232-4C7D-BE5E-9B15C611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evidence is still missing?</a:t>
            </a:r>
          </a:p>
        </p:txBody>
      </p:sp>
      <p:sp>
        <p:nvSpPr>
          <p:cNvPr id="34" name="bridge-q-num-1">
            <a:extLst xmlns:a="http://schemas.openxmlformats.org/drawingml/2006/main">
              <a:ext uri="{FF2B5EF4-FFF2-40B4-BE49-F238E27FC236}">
                <a16:creationId xmlns:a16="http://schemas.microsoft.com/office/drawing/2014/main" id="{C7F113B7-360E-48FC-8180-15109C57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2</a:t>
            </a:r>
          </a:p>
        </p:txBody>
      </p:sp>
      <p:sp>
        <p:nvSpPr>
          <p:cNvPr id="35" name="bridge-q-1">
            <a:extLst xmlns:a="http://schemas.openxmlformats.org/drawingml/2006/main">
              <a:ext uri="{FF2B5EF4-FFF2-40B4-BE49-F238E27FC236}">
                <a16:creationId xmlns:a16="http://schemas.microsoft.com/office/drawing/2014/main" id="{0F8A2660-ACBC-4D96-97FE-B2AFD5C2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62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Who has authority to decide?</a:t>
            </a:r>
          </a:p>
        </p:txBody>
      </p:sp>
      <p:sp>
        <p:nvSpPr>
          <p:cNvPr id="36" name="bridge-q-num-2">
            <a:extLst xmlns:a="http://schemas.openxmlformats.org/drawingml/2006/main">
              <a:ext uri="{FF2B5EF4-FFF2-40B4-BE49-F238E27FC236}">
                <a16:creationId xmlns:a16="http://schemas.microsoft.com/office/drawing/2014/main" id="{FE16B53A-2291-42B9-8685-E5B9909C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1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3</a:t>
            </a:r>
          </a:p>
        </p:txBody>
      </p:sp>
      <p:sp>
        <p:nvSpPr>
          <p:cNvPr id="37" name="bridge-q-2">
            <a:extLst xmlns:a="http://schemas.openxmlformats.org/drawingml/2006/main">
              <a:ext uri="{FF2B5EF4-FFF2-40B4-BE49-F238E27FC236}">
                <a16:creationId xmlns:a16="http://schemas.microsoft.com/office/drawing/2014/main" id="{7F955FEF-CF60-4943-A1F0-86354D4D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62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can proceed safely now?</a:t>
            </a:r>
          </a:p>
        </p:txBody>
      </p:sp>
      <p:sp>
        <p:nvSpPr>
          <p:cNvPr id="38" name="bridge-q-num-3">
            <a:extLst xmlns:a="http://schemas.openxmlformats.org/drawingml/2006/main">
              <a:ext uri="{FF2B5EF4-FFF2-40B4-BE49-F238E27FC236}">
                <a16:creationId xmlns:a16="http://schemas.microsoft.com/office/drawing/2014/main" id="{3B2CEFC7-251C-4BEA-9689-DD66C882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81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4</a:t>
            </a:r>
          </a:p>
        </p:txBody>
      </p:sp>
      <p:sp>
        <p:nvSpPr>
          <p:cNvPr id="39" name="bridge-q-3">
            <a:extLst xmlns:a="http://schemas.openxmlformats.org/drawingml/2006/main">
              <a:ext uri="{FF2B5EF4-FFF2-40B4-BE49-F238E27FC236}">
                <a16:creationId xmlns:a16="http://schemas.microsoft.com/office/drawing/2014/main" id="{66DCA056-FDBE-40D3-9954-DC852A8E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62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remains premature?</a:t>
            </a:r>
          </a:p>
        </p:txBody>
      </p:sp>
      <p:sp>
        <p:nvSpPr>
          <p:cNvPr id="40" name="bridge-q-num-4">
            <a:extLst xmlns:a="http://schemas.openxmlformats.org/drawingml/2006/main">
              <a:ext uri="{FF2B5EF4-FFF2-40B4-BE49-F238E27FC236}">
                <a16:creationId xmlns:a16="http://schemas.microsoft.com/office/drawing/2014/main" id="{9D052163-BFAD-4328-B29A-3E817CC6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81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5</a:t>
            </a:r>
          </a:p>
        </p:txBody>
      </p:sp>
      <p:sp>
        <p:nvSpPr>
          <p:cNvPr id="41" name="bridge-q-4">
            <a:extLst xmlns:a="http://schemas.openxmlformats.org/drawingml/2006/main">
              <a:ext uri="{FF2B5EF4-FFF2-40B4-BE49-F238E27FC236}">
                <a16:creationId xmlns:a16="http://schemas.microsoft.com/office/drawing/2014/main" id="{928FA830-51C0-4477-BE10-27AB1EFB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62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triggers the next review?</a:t>
            </a:r>
          </a:p>
        </p:txBody>
      </p:sp>
      <p:sp>
        <p:nvSpPr>
          <p:cNvPr id="42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07285F93-0C51-45D4-A927-471B9E04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9"/>
                </a:solidFill>
              </a:defRPr>
            </a:pPr>
            <a:r>
              <a:rPr sz="975" b="1">
                <a:solidFill>
                  <a:srgbClr val="526579"/>
                </a:solidFill>
              </a:rPr>
              <a:t>NEVERLOST · SYNTHETIC DEMONSTRATION</a:t>
            </a:r>
          </a:p>
        </p:txBody>
      </p:sp>
      <p:sp>
        <p:nvSpPr>
          <p:cNvPr id="43" name="footer-frame-4">
            <a:extLst xmlns:a="http://schemas.openxmlformats.org/drawingml/2006/main">
              <a:ext uri="{FF2B5EF4-FFF2-40B4-BE49-F238E27FC236}">
                <a16:creationId xmlns:a16="http://schemas.microsoft.com/office/drawing/2014/main" id="{0913F12D-6D6A-4EE6-A213-9787632A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</a:defRPr>
            </a:pPr>
            <a:r>
              <a:rPr sz="975" b="1">
                <a:solidFill>
                  <a:srgbClr val="526579"/>
                </a:solidFill>
              </a:rPr>
              <a:t>04 / 06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c68df65104068"/>
          <a:stretch xmlns:a="http://schemas.openxmlformats.org/drawingml/2006/main"/>
        </p:blipFill>
        <p:spPr>
          <a:xfrm xmlns:a="http://schemas.openxmlformats.org/drawingml/2006/main">
            <a:off x="11049000" y="6115050"/>
            <a:ext cx="552450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93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BC6A81E0-2288-4807-9841-EC39A6D8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588"/>
                </a:solidFill>
              </a:defRPr>
            </a:pPr>
            <a:r>
              <a:rPr sz="1125" b="1">
                <a:solidFill>
                  <a:srgbClr val="2F6588"/>
                </a:solidFill>
              </a:rPr>
              <a:t>BEFORE · AFTER · GOVERNED IMPROVEMENT</a:t>
            </a:r>
          </a:p>
        </p:txBody>
      </p:sp>
      <p:sp>
        <p:nvSpPr>
          <p:cNvPr id="2" name="s5-title">
            <a:extLst xmlns:a="http://schemas.openxmlformats.org/drawingml/2006/main">
              <a:ext uri="{FF2B5EF4-FFF2-40B4-BE49-F238E27FC236}">
                <a16:creationId xmlns:a16="http://schemas.microsoft.com/office/drawing/2014/main" id="{E5EA4CCA-CC6A-44AE-B408-585E5B65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63E"/>
                </a:solidFill>
              </a:defRPr>
            </a:pPr>
            <a:r>
              <a:rPr sz="2700" b="1">
                <a:solidFill>
                  <a:srgbClr val="10263E"/>
                </a:solidFill>
              </a:rPr>
              <a:t>Automation corrected the planted errors. Human review still made the system better.</a:t>
            </a:r>
          </a:p>
        </p:txBody>
      </p:sp>
      <p:sp>
        <p:nvSpPr>
          <p:cNvPr id="3" name="unsafe-field">
            <a:extLst xmlns:a="http://schemas.openxmlformats.org/drawingml/2006/main">
              <a:ext uri="{FF2B5EF4-FFF2-40B4-BE49-F238E27FC236}">
                <a16:creationId xmlns:a16="http://schemas.microsoft.com/office/drawing/2014/main" id="{94134A34-6435-4BA9-8C16-E86947A1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8155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4F3"/>
          </a:solidFill>
          <a:ln xmlns:a="http://schemas.openxmlformats.org/drawingml/2006/main" w="9525">
            <a:solidFill>
              <a:srgbClr val="E8C6C3"/>
            </a:solidFill>
            <a:prstDash val="solid"/>
          </a:ln>
        </p:spPr>
      </p:sp>
      <p:sp>
        <p:nvSpPr>
          <p:cNvPr id="4" name="unsafe-label">
            <a:extLst xmlns:a="http://schemas.openxmlformats.org/drawingml/2006/main">
              <a:ext uri="{FF2B5EF4-FFF2-40B4-BE49-F238E27FC236}">
                <a16:creationId xmlns:a16="http://schemas.microsoft.com/office/drawing/2014/main" id="{87D0D435-8A25-4545-9B4F-F6EC96A7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5555"/>
                </a:solidFill>
              </a:defRPr>
            </a:pPr>
            <a:r>
              <a:rPr sz="1125" b="1">
                <a:solidFill>
                  <a:srgbClr val="B95555"/>
                </a:solidFill>
              </a:rPr>
              <a:t>UNSAFE DRAFT</a:t>
            </a:r>
          </a:p>
        </p:txBody>
      </p:sp>
      <p:sp>
        <p:nvSpPr>
          <p:cNvPr id="5" name="unsafe-quote">
            <a:extLst xmlns:a="http://schemas.openxmlformats.org/drawingml/2006/main">
              <a:ext uri="{FF2B5EF4-FFF2-40B4-BE49-F238E27FC236}">
                <a16:creationId xmlns:a16="http://schemas.microsoft.com/office/drawing/2014/main" id="{7DB05FE9-0FAE-416B-9CBE-CC53A2E2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39814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63E"/>
                </a:solidFill>
              </a:defRPr>
            </a:pPr>
            <a:r>
              <a:rPr sz="1800" b="1">
                <a:solidFill>
                  <a:srgbClr val="10263E"/>
                </a:solidFill>
              </a:rPr>
              <a:t>“APPROVED: medically cleared for a sustainable 20-hour schedule… VR will purchase equipment… benefits will continue unchanged.”</a:t>
            </a:r>
          </a:p>
        </p:txBody>
      </p:sp>
      <p:sp>
        <p:nvSpPr>
          <p:cNvPr id="6" name="unsafe-foot">
            <a:extLst xmlns:a="http://schemas.openxmlformats.org/drawingml/2006/main">
              <a:ext uri="{FF2B5EF4-FFF2-40B4-BE49-F238E27FC236}">
                <a16:creationId xmlns:a16="http://schemas.microsoft.com/office/drawing/2014/main" id="{36C9AFA4-26C0-4559-A950-35CBCCED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3962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555"/>
                </a:solidFill>
              </a:defRPr>
            </a:pPr>
            <a:r>
              <a:rPr sz="1200" b="1">
                <a:solidFill>
                  <a:srgbClr val="B95555"/>
                </a:solidFill>
              </a:rPr>
              <a:t>Hopes became capacity. Possibilities became approvals. Generic information became guarantees.</a:t>
            </a:r>
          </a:p>
        </p:txBody>
      </p:sp>
      <p:sp>
        <p:nvSpPr>
          <p:cNvPr id="7" name="safe-field">
            <a:extLst xmlns:a="http://schemas.openxmlformats.org/drawingml/2006/main">
              <a:ext uri="{FF2B5EF4-FFF2-40B4-BE49-F238E27FC236}">
                <a16:creationId xmlns:a16="http://schemas.microsoft.com/office/drawing/2014/main" id="{FEC12F2E-28C4-4A6A-8E86-F6B774EA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62150"/>
            <a:ext cx="535305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0A2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afe-label">
            <a:extLst xmlns:a="http://schemas.openxmlformats.org/drawingml/2006/main">
              <a:ext uri="{FF2B5EF4-FFF2-40B4-BE49-F238E27FC236}">
                <a16:creationId xmlns:a16="http://schemas.microsoft.com/office/drawing/2014/main" id="{6D12175B-F7A2-4E93-B782-CC4A9CBF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2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GOVERNED OUTPUT</a:t>
            </a:r>
          </a:p>
        </p:txBody>
      </p:sp>
      <p:sp>
        <p:nvSpPr>
          <p:cNvPr id="9" name="safe-main">
            <a:extLst xmlns:a="http://schemas.openxmlformats.org/drawingml/2006/main">
              <a:ext uri="{FF2B5EF4-FFF2-40B4-BE49-F238E27FC236}">
                <a16:creationId xmlns:a16="http://schemas.microsoft.com/office/drawing/2014/main" id="{50581F10-3713-4777-8DF4-F8903379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445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Goals remain goals.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Observations keep recovery cost.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Funding and benefits become authority-routed questions.</a:t>
            </a:r>
          </a:p>
        </p:txBody>
      </p:sp>
      <p:sp>
        <p:nvSpPr>
          <p:cNvPr id="10" name="safe-status">
            <a:extLst xmlns:a="http://schemas.openxmlformats.org/drawingml/2006/main">
              <a:ext uri="{FF2B5EF4-FFF2-40B4-BE49-F238E27FC236}">
                <a16:creationId xmlns:a16="http://schemas.microsoft.com/office/drawing/2014/main" id="{4A6A4BB5-20EC-4146-AA22-83679DFB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6A4D0"/>
                </a:solidFill>
              </a:defRPr>
            </a:pPr>
            <a:r>
              <a:rPr sz="1575" b="1">
                <a:solidFill>
                  <a:srgbClr val="56A4D0"/>
                </a:solidFill>
              </a:rPr>
              <a:t>READY_FOR_USER_REVIEW</a:t>
            </a:r>
          </a:p>
        </p:txBody>
      </p:sp>
      <p:sp>
        <p:nvSpPr>
          <p:cNvPr id="11" name="safe-foot">
            <a:extLst xmlns:a="http://schemas.openxmlformats.org/drawingml/2006/main">
              <a:ext uri="{FF2B5EF4-FFF2-40B4-BE49-F238E27FC236}">
                <a16:creationId xmlns:a16="http://schemas.microsoft.com/office/drawing/2014/main" id="{CE4F05AC-D38E-4125-9DF5-B78D0E52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4FA"/>
                </a:solidFill>
              </a:defRPr>
            </a:pPr>
            <a:r>
              <a:rPr sz="1125" b="0">
                <a:solidFill>
                  <a:srgbClr val="EAF4FA"/>
                </a:solidFill>
              </a:rPr>
              <a:t>Stops before professional or external approval.</a:t>
            </a:r>
          </a:p>
        </p:txBody>
      </p:sp>
      <p:sp>
        <p:nvSpPr>
          <p:cNvPr id="12" name="patch-strip">
            <a:extLst xmlns:a="http://schemas.openxmlformats.org/drawingml/2006/main">
              <a:ext uri="{FF2B5EF4-FFF2-40B4-BE49-F238E27FC236}">
                <a16:creationId xmlns:a16="http://schemas.microsoft.com/office/drawing/2014/main" id="{B4D0E4B0-1D36-4156-BA05-4B771A4A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5537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13" name="patch-num">
            <a:extLst xmlns:a="http://schemas.openxmlformats.org/drawingml/2006/main">
              <a:ext uri="{FF2B5EF4-FFF2-40B4-BE49-F238E27FC236}">
                <a16:creationId xmlns:a16="http://schemas.microsoft.com/office/drawing/2014/main" id="{A6D0C301-19AD-439B-864E-F93BC246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588"/>
                </a:solidFill>
              </a:defRPr>
            </a:pPr>
            <a:r>
              <a:rPr sz="2550" b="1">
                <a:solidFill>
                  <a:srgbClr val="2F6588"/>
                </a:solidFill>
              </a:rPr>
              <a:t>1</a:t>
            </a:r>
          </a:p>
        </p:txBody>
      </p:sp>
      <p:sp>
        <p:nvSpPr>
          <p:cNvPr id="14" name="patch-copy">
            <a:extLst xmlns:a="http://schemas.openxmlformats.org/drawingml/2006/main">
              <a:ext uri="{FF2B5EF4-FFF2-40B4-BE49-F238E27FC236}">
                <a16:creationId xmlns:a16="http://schemas.microsoft.com/office/drawing/2014/main" id="{DAD670D8-4160-43BA-8159-A9664C10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14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3E"/>
                </a:solidFill>
              </a:defRPr>
            </a:pPr>
            <a:r>
              <a:rPr sz="1350" b="1">
                <a:solidFill>
                  <a:srgbClr val="10263E"/>
                </a:solidFill>
              </a:rPr>
              <a:t>governed patch cycle separated client capacity evidence from the distinct OT simulation—while preserving the passing baseline.</a:t>
            </a:r>
          </a:p>
        </p:txBody>
      </p:sp>
      <p:sp>
        <p:nvSpPr>
          <p:cNvPr id="15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E3AF92D8-B451-4BAF-87FE-DB60E56B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9"/>
                </a:solidFill>
              </a:defRPr>
            </a:pPr>
            <a:r>
              <a:rPr sz="975" b="1">
                <a:solidFill>
                  <a:srgbClr val="526579"/>
                </a:solidFill>
              </a:rPr>
              <a:t>NEVERLOST · SYNTHETIC DEMONSTRATION</a:t>
            </a:r>
          </a:p>
        </p:txBody>
      </p:sp>
      <p:sp>
        <p:nvSpPr>
          <p:cNvPr id="16" name="footer-frame-5">
            <a:extLst xmlns:a="http://schemas.openxmlformats.org/drawingml/2006/main">
              <a:ext uri="{FF2B5EF4-FFF2-40B4-BE49-F238E27FC236}">
                <a16:creationId xmlns:a16="http://schemas.microsoft.com/office/drawing/2014/main" id="{C976AD48-0B23-4B37-A13A-F10E2705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</a:defRPr>
            </a:pPr>
            <a:r>
              <a:rPr sz="975" b="1">
                <a:solidFill>
                  <a:srgbClr val="526579"/>
                </a:solidFill>
              </a:rPr>
              <a:t>05 / 06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9d6a9e2764e79"/>
          <a:stretch xmlns:a="http://schemas.openxmlformats.org/drawingml/2006/main"/>
        </p:blipFill>
        <p:spPr>
          <a:xfrm xmlns:a="http://schemas.openxmlformats.org/drawingml/2006/main">
            <a:off x="11049000" y="6115050"/>
            <a:ext cx="552450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466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2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B8E329FF-CB0E-43C1-9C59-C82BD103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REPRODUCIBLE PROOF · HUMAN AUTHORITY PRESERVED</a:t>
            </a:r>
          </a:p>
        </p:txBody>
      </p:sp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A0E09548-49E5-48C8-A4F3-C30F2BCC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The result is inspectable, testable, and deliberately bounded.</a:t>
            </a:r>
          </a:p>
        </p:txBody>
      </p:sp>
      <p:sp>
        <p:nvSpPr>
          <p:cNvPr id="3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AD62E72C-D7B5-4B5C-90C8-CDFF858A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6A4D0"/>
                </a:solidFill>
              </a:defRPr>
            </a:pPr>
            <a:r>
              <a:rPr sz="3000" b="1">
                <a:solidFill>
                  <a:srgbClr val="56A4D0"/>
                </a:solidFill>
              </a:rPr>
              <a:t>24/24</a:t>
            </a:r>
          </a:p>
        </p:txBody>
      </p:sp>
      <p:sp>
        <p:nvSpPr>
          <p:cNvPr id="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BA654537-5656-4ED2-A4C9-C9DAC735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4FA"/>
                </a:solidFill>
              </a:defRPr>
            </a:pPr>
            <a:r>
              <a:rPr sz="1275" b="1">
                <a:solidFill>
                  <a:srgbClr val="EAF4FA"/>
                </a:solidFill>
              </a:rPr>
              <a:t>packet checks</a:t>
            </a:r>
          </a:p>
        </p:txBody>
      </p:sp>
      <p:sp>
        <p:nvSpPr>
          <p:cNvPr id="5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88CB50AE-CD97-4F4F-9F6D-467DAA58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62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6A4D0"/>
                </a:solidFill>
              </a:defRPr>
            </a:pPr>
            <a:r>
              <a:rPr sz="3000" b="1">
                <a:solidFill>
                  <a:srgbClr val="56A4D0"/>
                </a:solidFill>
              </a:rPr>
              <a:t>6/6</a:t>
            </a:r>
          </a:p>
        </p:txBody>
      </p:sp>
      <p:sp>
        <p:nvSpPr>
          <p:cNvPr id="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AD88AA31-BDD2-4B6B-93D3-A9340FB6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4FA"/>
                </a:solidFill>
              </a:defRPr>
            </a:pPr>
            <a:r>
              <a:rPr sz="1275" b="1">
                <a:solidFill>
                  <a:srgbClr val="EAF4FA"/>
                </a:solidFill>
              </a:rPr>
              <a:t>regression tests</a:t>
            </a:r>
          </a:p>
        </p:txBody>
      </p:sp>
      <p:sp>
        <p:nvSpPr>
          <p:cNvPr id="7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AAF2712-9A5E-4164-BC16-18041667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62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6A4D0"/>
                </a:solidFill>
              </a:defRPr>
            </a:pPr>
            <a:r>
              <a:rPr sz="3000" b="1">
                <a:solidFill>
                  <a:srgbClr val="56A4D0"/>
                </a:solidFill>
              </a:rPr>
              <a:t>6/6</a:t>
            </a:r>
          </a:p>
        </p:txBody>
      </p:sp>
      <p:sp>
        <p:nvSpPr>
          <p:cNvPr id="8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C1015463-C06D-48FC-8B77-37D712EE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33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4FA"/>
                </a:solidFill>
              </a:defRPr>
            </a:pPr>
            <a:r>
              <a:rPr sz="1275" b="1">
                <a:solidFill>
                  <a:srgbClr val="EAF4FA"/>
                </a:solidFill>
              </a:rPr>
              <a:t>pathway lanes</a:t>
            </a:r>
          </a:p>
        </p:txBody>
      </p:sp>
      <p:sp>
        <p:nvSpPr>
          <p:cNvPr id="9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6E00B243-8418-4A80-AEB7-6EF6430F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6A4D0"/>
                </a:solidFill>
              </a:defRPr>
            </a:pPr>
            <a:r>
              <a:rPr sz="3000" b="1">
                <a:solidFill>
                  <a:srgbClr val="56A4D0"/>
                </a:solidFill>
              </a:rPr>
              <a:t>5/5</a:t>
            </a:r>
          </a:p>
        </p:txBody>
      </p:sp>
      <p:sp>
        <p:nvSpPr>
          <p:cNvPr id="10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104D4D34-EF84-4AA1-B8BB-5C0B42CA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4FA"/>
                </a:solidFill>
              </a:defRPr>
            </a:pPr>
            <a:r>
              <a:rPr sz="1275" b="1">
                <a:solidFill>
                  <a:srgbClr val="EAF4FA"/>
                </a:solidFill>
              </a:rPr>
              <a:t>authority bridges</a:t>
            </a:r>
          </a:p>
        </p:txBody>
      </p:sp>
      <p:sp>
        <p:nvSpPr>
          <p:cNvPr id="11" name="metric-value-4">
            <a:extLst xmlns:a="http://schemas.openxmlformats.org/drawingml/2006/main">
              <a:ext uri="{FF2B5EF4-FFF2-40B4-BE49-F238E27FC236}">
                <a16:creationId xmlns:a16="http://schemas.microsoft.com/office/drawing/2014/main" id="{C02EF7D1-71B1-4537-BECD-7EB68DB1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14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6A4D0"/>
                </a:solidFill>
              </a:defRPr>
            </a:pPr>
            <a:r>
              <a:rPr sz="3000" b="1">
                <a:solidFill>
                  <a:srgbClr val="56A4D0"/>
                </a:solidFill>
              </a:rPr>
              <a:t>0</a:t>
            </a:r>
          </a:p>
        </p:txBody>
      </p:sp>
      <p:sp>
        <p:nvSpPr>
          <p:cNvPr id="12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581A52AC-82B6-4EAF-9EC4-E6669DEC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86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4FA"/>
                </a:solidFill>
              </a:defRPr>
            </a:pPr>
            <a:r>
              <a:rPr sz="1275" b="1">
                <a:solidFill>
                  <a:srgbClr val="EAF4FA"/>
                </a:solidFill>
              </a:rPr>
              <a:t>prohibited claims retained</a:t>
            </a:r>
          </a:p>
        </p:txBody>
      </p:sp>
      <p:sp>
        <p:nvSpPr>
          <p:cNvPr id="13" name="metric-value-5">
            <a:extLst xmlns:a="http://schemas.openxmlformats.org/drawingml/2006/main">
              <a:ext uri="{FF2B5EF4-FFF2-40B4-BE49-F238E27FC236}">
                <a16:creationId xmlns:a16="http://schemas.microsoft.com/office/drawing/2014/main" id="{8167610A-8654-45BA-8AAF-B3FD8152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14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6A4D0"/>
                </a:solidFill>
              </a:defRPr>
            </a:pPr>
            <a:r>
              <a:rPr sz="3000" b="1">
                <a:solidFill>
                  <a:srgbClr val="56A4D0"/>
                </a:solidFill>
              </a:rPr>
              <a:t>0</a:t>
            </a:r>
          </a:p>
        </p:txBody>
      </p:sp>
      <p:sp>
        <p:nvSpPr>
          <p:cNvPr id="14" name="metric-label-5">
            <a:extLst xmlns:a="http://schemas.openxmlformats.org/drawingml/2006/main">
              <a:ext uri="{FF2B5EF4-FFF2-40B4-BE49-F238E27FC236}">
                <a16:creationId xmlns:a16="http://schemas.microsoft.com/office/drawing/2014/main" id="{648952B2-1EB1-47D3-B346-BB5B6F49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86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4FA"/>
                </a:solidFill>
              </a:defRPr>
            </a:pPr>
            <a:r>
              <a:rPr sz="1275" b="1">
                <a:solidFill>
                  <a:srgbClr val="EAF4FA"/>
                </a:solidFill>
              </a:rPr>
              <a:t>real identifiers</a:t>
            </a:r>
          </a:p>
        </p:txBody>
      </p:sp>
      <p:sp>
        <p:nvSpPr>
          <p:cNvPr id="15" name="s6-divider">
            <a:extLst xmlns:a="http://schemas.openxmlformats.org/drawingml/2006/main">
              <a:ext uri="{FF2B5EF4-FFF2-40B4-BE49-F238E27FC236}">
                <a16:creationId xmlns:a16="http://schemas.microsoft.com/office/drawing/2014/main" id="{F92B5A45-2B0E-4F49-B6A0-BCB4547A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28575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A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dex-label">
            <a:extLst xmlns:a="http://schemas.openxmlformats.org/drawingml/2006/main">
              <a:ext uri="{FF2B5EF4-FFF2-40B4-BE49-F238E27FC236}">
                <a16:creationId xmlns:a16="http://schemas.microsoft.com/office/drawing/2014/main" id="{3642430D-24EE-45A6-8DF9-69D7A957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62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CODEX CONTRIBUTION</a:t>
            </a:r>
          </a:p>
        </p:txBody>
      </p:sp>
      <p:sp>
        <p:nvSpPr>
          <p:cNvPr id="17" name="codex-copy">
            <a:extLst xmlns:a="http://schemas.openxmlformats.org/drawingml/2006/main">
              <a:ext uri="{FF2B5EF4-FFF2-40B4-BE49-F238E27FC236}">
                <a16:creationId xmlns:a16="http://schemas.microsoft.com/office/drawing/2014/main" id="{F44DB952-63E3-4A22-9F77-248469FB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2552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Structured the reusable skills, data contracts, synthetic runner, validators, tests, governance checkpoints, and judge experience.</a:t>
            </a:r>
          </a:p>
        </p:txBody>
      </p:sp>
      <p:sp>
        <p:nvSpPr>
          <p:cNvPr id="18" name="human-label">
            <a:extLst xmlns:a="http://schemas.openxmlformats.org/drawingml/2006/main">
              <a:ext uri="{FF2B5EF4-FFF2-40B4-BE49-F238E27FC236}">
                <a16:creationId xmlns:a16="http://schemas.microsoft.com/office/drawing/2014/main" id="{62D662A9-0C7A-468B-96B4-0913EE7C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4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A4D0"/>
                </a:solidFill>
              </a:defRPr>
            </a:pPr>
            <a:r>
              <a:rPr sz="1125" b="1">
                <a:solidFill>
                  <a:srgbClr val="56A4D0"/>
                </a:solidFill>
              </a:rPr>
              <a:t>HUMAN AUTHORITY</a:t>
            </a:r>
          </a:p>
        </p:txBody>
      </p:sp>
      <p:sp>
        <p:nvSpPr>
          <p:cNvPr id="19" name="human-copy">
            <a:extLst xmlns:a="http://schemas.openxmlformats.org/drawingml/2006/main">
              <a:ext uri="{FF2B5EF4-FFF2-40B4-BE49-F238E27FC236}">
                <a16:creationId xmlns:a16="http://schemas.microsoft.com/office/drawing/2014/main" id="{8580E8CC-41C0-416E-9BFD-D1C1F51E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43400"/>
            <a:ext cx="2552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4FA"/>
                </a:solidFill>
              </a:defRPr>
            </a:pPr>
            <a:r>
              <a:rPr sz="1350" b="1">
                <a:solidFill>
                  <a:srgbClr val="EAF4FA"/>
                </a:solidFill>
              </a:rPr>
              <a:t>Neverlost does not establish diagnosis, eligibility, benefits continuity, funding, work capacity, or professional approval.</a:t>
            </a:r>
          </a:p>
        </p:txBody>
      </p:sp>
      <p:sp>
        <p:nvSpPr>
          <p:cNvPr id="20" name="s6-close">
            <a:extLst xmlns:a="http://schemas.openxmlformats.org/drawingml/2006/main">
              <a:ext uri="{FF2B5EF4-FFF2-40B4-BE49-F238E27FC236}">
                <a16:creationId xmlns:a16="http://schemas.microsoft.com/office/drawing/2014/main" id="{C012493F-66CF-4A91-A113-745454D8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AI creates leverage. Governance keeps the human in command.</a:t>
            </a:r>
          </a:p>
        </p:txBody>
      </p:sp>
      <p:sp>
        <p:nvSpPr>
          <p:cNvPr id="21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12A61446-E294-440F-B3EA-1B8CD331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4FA"/>
                </a:solidFill>
              </a:defRPr>
            </a:pPr>
            <a:r>
              <a:rPr sz="975" b="1">
                <a:solidFill>
                  <a:srgbClr val="EAF4FA"/>
                </a:solidFill>
              </a:rPr>
              <a:t>NEVERLOST · SYNTHETIC DEMONSTRATION</a:t>
            </a:r>
          </a:p>
        </p:txBody>
      </p:sp>
      <p:sp>
        <p:nvSpPr>
          <p:cNvPr id="22" name="footer-frame-6">
            <a:extLst xmlns:a="http://schemas.openxmlformats.org/drawingml/2006/main">
              <a:ext uri="{FF2B5EF4-FFF2-40B4-BE49-F238E27FC236}">
                <a16:creationId xmlns:a16="http://schemas.microsoft.com/office/drawing/2014/main" id="{701FD79A-B421-4ABC-AC82-A1DA9540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AF4FA"/>
                </a:solidFill>
              </a:defRPr>
            </a:pPr>
            <a:r>
              <a:rPr sz="975" b="1">
                <a:solidFill>
                  <a:srgbClr val="EAF4FA"/>
                </a:solidFill>
              </a:rPr>
              <a:t>06 / 06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841e532484dcf"/>
          <a:stretch xmlns:a="http://schemas.openxmlformats.org/drawingml/2006/main"/>
        </p:blipFill>
        <p:spPr>
          <a:xfrm xmlns:a="http://schemas.openxmlformats.org/drawingml/2006/main">
            <a:off x="11049000" y="6115050"/>
            <a:ext cx="552450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764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2026-07-19T02:34:14.1310000Z</dcterms:created>
  <dcterms:modified xsi:type="dcterms:W3CDTF">2026-07-19T02:34:14.1310000Z</dcterms:modified>
</coreProperties>
</file>